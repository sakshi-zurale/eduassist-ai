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EduAssist AI is our final-year project for Deep Learning and Cloud Computing. It analyses student data with machine learning, answers questions with NLP, RAG and a local LLM, and stores PDF reports in Amazon S3. Q: Which part is Deep Learning? A: The language model and embedding models; the prediction models are classical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EduAssist AI links student data, AI analysis, a chat assistant, PDF reports and cloud storage. The problems are what the project aims to address, not claims about every institution. It supports teachers and does not replace them. Q: What is the scope? A: Sample OULAD records, local LLM, and S3 integration; full cloud hosting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sends a request to the FastAPI backend. The backend uses the student dataset and trained model files, and runs the intent engine, student intelligence, academic insights, RAG and the LLM. The pipeline is conceptual: which steps run depends on the question. For reports, the backend generates a PDF and uploads it to Amazon S3. Q: Is the whole app on AWS? A: No, only report storage uses AWS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the Open University Learning Analytics Dataset, OULAD. Raw tables are cleaned, aggregated and turned into features, then used for model training and insights. Student 11391 is shown only as a sample dataset record. Row and column counts must be checked against the project files. Q: What is OULAD? A: A public learning analytics dataset from the Open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models are conventional supervised machine learning, not deep neural networks. The Gradient Boosting Regressor adds small trees one after another, each correcting earlier errors, to predict performance. The Random Forest Classifier trains many trees and takes a majority vote to give a risk category. The risk label is an academic indicator, not a definitive judgment. Q: Why not deep learning? A: Tabular data suits tree ensembles.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is classified by intent, combined with student data and insights, and relevant knowledge is retrieved with embeddings and FAISS. The local Ollama model llama3.2:3b writes the answer. RAG supplies context to ground the answer but does not guarantee correctness. The LLM is pretrained, not trained by us. Q: Why run the LLM locally? A: No cloud inference cost and data stays on the machine, but it needs hardware and can be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PDF reports are uploaded to Amazon S3 using Boto3. A bucket is a container and an object is a file in it, identified by a key. Each key has a timestamp, so every report is kept as a separate object. The bucket is private and access uses IAM with least privilege. No credentials appear in code or slides. Q: How are keys secured? A: Kept outside the code, for example environment variables or an IAM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loads a student and clicks Generate Report and Save to S3. React calls POST /student/{student_id}/report. The backend prepares the content, ReportLab creates the PDF locally, then Boto3 uploads it to S3. The backend returns the result and S3 key and the UI shows the status. PDF generation is separate from the cloud upload. Q: Which step is cloud? A: Only step 6, the S3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figures: Gradient Boosting R² about 0.5024, MAE about 8.1575, training table about 21,444 rows by 30 columns. Verify these against the project files before presenting. R² shows how much variation the model explains; MAE is the average absolute error in target units. No uptime, speed or grade-improvement claims are made. Q: Is R² of 0.50 good? A: Moderate; the model explains about half of the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include credential protection, student privacy, local LLM hardware needs and latency, model uncertainty and dataset limits. Future items are proposals, not implemented. EduAssist AI shows ML analysis, NLP and RAG assistance, PDF reports and S3 storage working together. Q: What is needed before large-scale use? A: Authentication, evaluation, monitoring, cloud hosting and privacy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936"/>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554E8"/>
          </a:solidFill>
          <a:ln w="12700">
            <a:solidFill>
              <a:srgbClr val="6554E8"/>
            </a:solidFill>
            <a:prstDash val="solid"/>
          </a:ln>
        </p:spPr>
      </p:sp>
      <p:sp>
        <p:nvSpPr>
          <p:cNvPr id="3" name="Shape 1"/>
          <p:cNvSpPr/>
          <p:nvPr/>
        </p:nvSpPr>
        <p:spPr>
          <a:xfrm>
            <a:off x="6035040" y="914400"/>
            <a:ext cx="914400" cy="228600"/>
          </a:xfrm>
          <a:prstGeom prst="line">
            <a:avLst/>
          </a:prstGeom>
          <a:noFill/>
          <a:ln w="6350">
            <a:solidFill>
              <a:srgbClr val="3A3F7A"/>
            </a:solidFill>
            <a:prstDash val="solid"/>
          </a:ln>
        </p:spPr>
      </p:sp>
      <p:sp>
        <p:nvSpPr>
          <p:cNvPr id="4" name="Shape 2"/>
          <p:cNvSpPr/>
          <p:nvPr/>
        </p:nvSpPr>
        <p:spPr>
          <a:xfrm>
            <a:off x="6035040" y="914400"/>
            <a:ext cx="914400" cy="731520"/>
          </a:xfrm>
          <a:prstGeom prst="line">
            <a:avLst/>
          </a:prstGeom>
          <a:noFill/>
          <a:ln w="6350">
            <a:solidFill>
              <a:srgbClr val="3A3F7A"/>
            </a:solidFill>
            <a:prstDash val="solid"/>
          </a:ln>
        </p:spPr>
      </p:sp>
      <p:sp>
        <p:nvSpPr>
          <p:cNvPr id="5" name="Shape 3"/>
          <p:cNvSpPr/>
          <p:nvPr/>
        </p:nvSpPr>
        <p:spPr>
          <a:xfrm>
            <a:off x="6035040" y="914400"/>
            <a:ext cx="914400" cy="1234440"/>
          </a:xfrm>
          <a:prstGeom prst="line">
            <a:avLst/>
          </a:prstGeom>
          <a:noFill/>
          <a:ln w="6350">
            <a:solidFill>
              <a:srgbClr val="3A3F7A"/>
            </a:solidFill>
            <a:prstDash val="solid"/>
          </a:ln>
        </p:spPr>
      </p:sp>
      <p:sp>
        <p:nvSpPr>
          <p:cNvPr id="6" name="Shape 4"/>
          <p:cNvSpPr/>
          <p:nvPr/>
        </p:nvSpPr>
        <p:spPr>
          <a:xfrm>
            <a:off x="6035040" y="914400"/>
            <a:ext cx="914400" cy="1737360"/>
          </a:xfrm>
          <a:prstGeom prst="line">
            <a:avLst/>
          </a:prstGeom>
          <a:noFill/>
          <a:ln w="6350">
            <a:solidFill>
              <a:srgbClr val="3A3F7A"/>
            </a:solidFill>
            <a:prstDash val="solid"/>
          </a:ln>
        </p:spPr>
      </p:sp>
      <p:sp>
        <p:nvSpPr>
          <p:cNvPr id="7" name="Shape 5"/>
          <p:cNvSpPr/>
          <p:nvPr/>
        </p:nvSpPr>
        <p:spPr>
          <a:xfrm flipV="1">
            <a:off x="6035040" y="1143000"/>
            <a:ext cx="914400" cy="274320"/>
          </a:xfrm>
          <a:prstGeom prst="line">
            <a:avLst/>
          </a:prstGeom>
          <a:noFill/>
          <a:ln w="6350">
            <a:solidFill>
              <a:srgbClr val="3A3F7A"/>
            </a:solidFill>
            <a:prstDash val="solid"/>
          </a:ln>
        </p:spPr>
      </p:sp>
      <p:sp>
        <p:nvSpPr>
          <p:cNvPr id="8" name="Shape 6"/>
          <p:cNvSpPr/>
          <p:nvPr/>
        </p:nvSpPr>
        <p:spPr>
          <a:xfrm>
            <a:off x="6035040" y="1417320"/>
            <a:ext cx="914400" cy="228600"/>
          </a:xfrm>
          <a:prstGeom prst="line">
            <a:avLst/>
          </a:prstGeom>
          <a:noFill/>
          <a:ln w="6350">
            <a:solidFill>
              <a:srgbClr val="3A3F7A"/>
            </a:solidFill>
            <a:prstDash val="solid"/>
          </a:ln>
        </p:spPr>
      </p:sp>
      <p:sp>
        <p:nvSpPr>
          <p:cNvPr id="9" name="Shape 7"/>
          <p:cNvSpPr/>
          <p:nvPr/>
        </p:nvSpPr>
        <p:spPr>
          <a:xfrm>
            <a:off x="6035040" y="1417320"/>
            <a:ext cx="914400" cy="731520"/>
          </a:xfrm>
          <a:prstGeom prst="line">
            <a:avLst/>
          </a:prstGeom>
          <a:noFill/>
          <a:ln w="6350">
            <a:solidFill>
              <a:srgbClr val="3A3F7A"/>
            </a:solidFill>
            <a:prstDash val="solid"/>
          </a:ln>
        </p:spPr>
      </p:sp>
      <p:sp>
        <p:nvSpPr>
          <p:cNvPr id="10" name="Shape 8"/>
          <p:cNvSpPr/>
          <p:nvPr/>
        </p:nvSpPr>
        <p:spPr>
          <a:xfrm>
            <a:off x="6035040" y="1417320"/>
            <a:ext cx="914400" cy="1234440"/>
          </a:xfrm>
          <a:prstGeom prst="line">
            <a:avLst/>
          </a:prstGeom>
          <a:noFill/>
          <a:ln w="6350">
            <a:solidFill>
              <a:srgbClr val="3A3F7A"/>
            </a:solidFill>
            <a:prstDash val="solid"/>
          </a:ln>
        </p:spPr>
      </p:sp>
      <p:sp>
        <p:nvSpPr>
          <p:cNvPr id="11" name="Shape 9"/>
          <p:cNvSpPr/>
          <p:nvPr/>
        </p:nvSpPr>
        <p:spPr>
          <a:xfrm flipV="1">
            <a:off x="6035040" y="1143000"/>
            <a:ext cx="914400" cy="777240"/>
          </a:xfrm>
          <a:prstGeom prst="line">
            <a:avLst/>
          </a:prstGeom>
          <a:noFill/>
          <a:ln w="6350">
            <a:solidFill>
              <a:srgbClr val="3A3F7A"/>
            </a:solidFill>
            <a:prstDash val="solid"/>
          </a:ln>
        </p:spPr>
      </p:sp>
      <p:sp>
        <p:nvSpPr>
          <p:cNvPr id="12" name="Shape 10"/>
          <p:cNvSpPr/>
          <p:nvPr/>
        </p:nvSpPr>
        <p:spPr>
          <a:xfrm flipV="1">
            <a:off x="6035040" y="1645920"/>
            <a:ext cx="914400" cy="274320"/>
          </a:xfrm>
          <a:prstGeom prst="line">
            <a:avLst/>
          </a:prstGeom>
          <a:noFill/>
          <a:ln w="6350">
            <a:solidFill>
              <a:srgbClr val="3A3F7A"/>
            </a:solidFill>
            <a:prstDash val="solid"/>
          </a:ln>
        </p:spPr>
      </p:sp>
      <p:sp>
        <p:nvSpPr>
          <p:cNvPr id="13" name="Shape 11"/>
          <p:cNvSpPr/>
          <p:nvPr/>
        </p:nvSpPr>
        <p:spPr>
          <a:xfrm>
            <a:off x="6035040" y="1920240"/>
            <a:ext cx="914400" cy="228600"/>
          </a:xfrm>
          <a:prstGeom prst="line">
            <a:avLst/>
          </a:prstGeom>
          <a:noFill/>
          <a:ln w="6350">
            <a:solidFill>
              <a:srgbClr val="3A3F7A"/>
            </a:solidFill>
            <a:prstDash val="solid"/>
          </a:ln>
        </p:spPr>
      </p:sp>
      <p:sp>
        <p:nvSpPr>
          <p:cNvPr id="14" name="Shape 12"/>
          <p:cNvSpPr/>
          <p:nvPr/>
        </p:nvSpPr>
        <p:spPr>
          <a:xfrm>
            <a:off x="6035040" y="1920240"/>
            <a:ext cx="914400" cy="731520"/>
          </a:xfrm>
          <a:prstGeom prst="line">
            <a:avLst/>
          </a:prstGeom>
          <a:noFill/>
          <a:ln w="6350">
            <a:solidFill>
              <a:srgbClr val="3A3F7A"/>
            </a:solidFill>
            <a:prstDash val="solid"/>
          </a:ln>
        </p:spPr>
      </p:sp>
      <p:sp>
        <p:nvSpPr>
          <p:cNvPr id="15" name="Shape 13"/>
          <p:cNvSpPr/>
          <p:nvPr/>
        </p:nvSpPr>
        <p:spPr>
          <a:xfrm flipV="1">
            <a:off x="6035040" y="1143000"/>
            <a:ext cx="914400" cy="1280160"/>
          </a:xfrm>
          <a:prstGeom prst="line">
            <a:avLst/>
          </a:prstGeom>
          <a:noFill/>
          <a:ln w="6350">
            <a:solidFill>
              <a:srgbClr val="3A3F7A"/>
            </a:solidFill>
            <a:prstDash val="solid"/>
          </a:ln>
        </p:spPr>
      </p:sp>
      <p:sp>
        <p:nvSpPr>
          <p:cNvPr id="16" name="Shape 14"/>
          <p:cNvSpPr/>
          <p:nvPr/>
        </p:nvSpPr>
        <p:spPr>
          <a:xfrm flipV="1">
            <a:off x="6035040" y="1645920"/>
            <a:ext cx="914400" cy="777240"/>
          </a:xfrm>
          <a:prstGeom prst="line">
            <a:avLst/>
          </a:prstGeom>
          <a:noFill/>
          <a:ln w="6350">
            <a:solidFill>
              <a:srgbClr val="3A3F7A"/>
            </a:solidFill>
            <a:prstDash val="solid"/>
          </a:ln>
        </p:spPr>
      </p:sp>
      <p:sp>
        <p:nvSpPr>
          <p:cNvPr id="17" name="Shape 15"/>
          <p:cNvSpPr/>
          <p:nvPr/>
        </p:nvSpPr>
        <p:spPr>
          <a:xfrm flipV="1">
            <a:off x="6035040" y="2148840"/>
            <a:ext cx="914400" cy="274320"/>
          </a:xfrm>
          <a:prstGeom prst="line">
            <a:avLst/>
          </a:prstGeom>
          <a:noFill/>
          <a:ln w="6350">
            <a:solidFill>
              <a:srgbClr val="3A3F7A"/>
            </a:solidFill>
            <a:prstDash val="solid"/>
          </a:ln>
        </p:spPr>
      </p:sp>
      <p:sp>
        <p:nvSpPr>
          <p:cNvPr id="18" name="Shape 16"/>
          <p:cNvSpPr/>
          <p:nvPr/>
        </p:nvSpPr>
        <p:spPr>
          <a:xfrm>
            <a:off x="6035040" y="2423160"/>
            <a:ext cx="914400" cy="228600"/>
          </a:xfrm>
          <a:prstGeom prst="line">
            <a:avLst/>
          </a:prstGeom>
          <a:noFill/>
          <a:ln w="6350">
            <a:solidFill>
              <a:srgbClr val="3A3F7A"/>
            </a:solidFill>
            <a:prstDash val="solid"/>
          </a:ln>
        </p:spPr>
      </p:sp>
      <p:sp>
        <p:nvSpPr>
          <p:cNvPr id="19" name="Shape 17"/>
          <p:cNvSpPr/>
          <p:nvPr/>
        </p:nvSpPr>
        <p:spPr>
          <a:xfrm flipV="1">
            <a:off x="6949440" y="914400"/>
            <a:ext cx="914400" cy="228600"/>
          </a:xfrm>
          <a:prstGeom prst="line">
            <a:avLst/>
          </a:prstGeom>
          <a:noFill/>
          <a:ln w="6350">
            <a:solidFill>
              <a:srgbClr val="3A3F7A"/>
            </a:solidFill>
            <a:prstDash val="solid"/>
          </a:ln>
        </p:spPr>
      </p:sp>
      <p:sp>
        <p:nvSpPr>
          <p:cNvPr id="20" name="Shape 18"/>
          <p:cNvSpPr/>
          <p:nvPr/>
        </p:nvSpPr>
        <p:spPr>
          <a:xfrm>
            <a:off x="6949440" y="1143000"/>
            <a:ext cx="914400" cy="274320"/>
          </a:xfrm>
          <a:prstGeom prst="line">
            <a:avLst/>
          </a:prstGeom>
          <a:noFill/>
          <a:ln w="6350">
            <a:solidFill>
              <a:srgbClr val="3A3F7A"/>
            </a:solidFill>
            <a:prstDash val="solid"/>
          </a:ln>
        </p:spPr>
      </p:sp>
      <p:sp>
        <p:nvSpPr>
          <p:cNvPr id="21" name="Shape 19"/>
          <p:cNvSpPr/>
          <p:nvPr/>
        </p:nvSpPr>
        <p:spPr>
          <a:xfrm>
            <a:off x="6949440" y="1143000"/>
            <a:ext cx="914400" cy="777240"/>
          </a:xfrm>
          <a:prstGeom prst="line">
            <a:avLst/>
          </a:prstGeom>
          <a:noFill/>
          <a:ln w="6350">
            <a:solidFill>
              <a:srgbClr val="3A3F7A"/>
            </a:solidFill>
            <a:prstDash val="solid"/>
          </a:ln>
        </p:spPr>
      </p:sp>
      <p:sp>
        <p:nvSpPr>
          <p:cNvPr id="22" name="Shape 20"/>
          <p:cNvSpPr/>
          <p:nvPr/>
        </p:nvSpPr>
        <p:spPr>
          <a:xfrm>
            <a:off x="6949440" y="1143000"/>
            <a:ext cx="914400" cy="1280160"/>
          </a:xfrm>
          <a:prstGeom prst="line">
            <a:avLst/>
          </a:prstGeom>
          <a:noFill/>
          <a:ln w="6350">
            <a:solidFill>
              <a:srgbClr val="3A3F7A"/>
            </a:solidFill>
            <a:prstDash val="solid"/>
          </a:ln>
        </p:spPr>
      </p:sp>
      <p:sp>
        <p:nvSpPr>
          <p:cNvPr id="23" name="Shape 21"/>
          <p:cNvSpPr/>
          <p:nvPr/>
        </p:nvSpPr>
        <p:spPr>
          <a:xfrm flipV="1">
            <a:off x="6949440" y="914400"/>
            <a:ext cx="914400" cy="731520"/>
          </a:xfrm>
          <a:prstGeom prst="line">
            <a:avLst/>
          </a:prstGeom>
          <a:noFill/>
          <a:ln w="6350">
            <a:solidFill>
              <a:srgbClr val="3A3F7A"/>
            </a:solidFill>
            <a:prstDash val="solid"/>
          </a:ln>
        </p:spPr>
      </p:sp>
      <p:sp>
        <p:nvSpPr>
          <p:cNvPr id="24" name="Shape 22"/>
          <p:cNvSpPr/>
          <p:nvPr/>
        </p:nvSpPr>
        <p:spPr>
          <a:xfrm flipV="1">
            <a:off x="6949440" y="1417320"/>
            <a:ext cx="914400" cy="228600"/>
          </a:xfrm>
          <a:prstGeom prst="line">
            <a:avLst/>
          </a:prstGeom>
          <a:noFill/>
          <a:ln w="6350">
            <a:solidFill>
              <a:srgbClr val="3A3F7A"/>
            </a:solidFill>
            <a:prstDash val="solid"/>
          </a:ln>
        </p:spPr>
      </p:sp>
      <p:sp>
        <p:nvSpPr>
          <p:cNvPr id="25" name="Shape 23"/>
          <p:cNvSpPr/>
          <p:nvPr/>
        </p:nvSpPr>
        <p:spPr>
          <a:xfrm>
            <a:off x="6949440" y="1645920"/>
            <a:ext cx="914400" cy="274320"/>
          </a:xfrm>
          <a:prstGeom prst="line">
            <a:avLst/>
          </a:prstGeom>
          <a:noFill/>
          <a:ln w="6350">
            <a:solidFill>
              <a:srgbClr val="3A3F7A"/>
            </a:solidFill>
            <a:prstDash val="solid"/>
          </a:ln>
        </p:spPr>
      </p:sp>
      <p:sp>
        <p:nvSpPr>
          <p:cNvPr id="26" name="Shape 24"/>
          <p:cNvSpPr/>
          <p:nvPr/>
        </p:nvSpPr>
        <p:spPr>
          <a:xfrm>
            <a:off x="6949440" y="1645920"/>
            <a:ext cx="914400" cy="777240"/>
          </a:xfrm>
          <a:prstGeom prst="line">
            <a:avLst/>
          </a:prstGeom>
          <a:noFill/>
          <a:ln w="6350">
            <a:solidFill>
              <a:srgbClr val="3A3F7A"/>
            </a:solidFill>
            <a:prstDash val="solid"/>
          </a:ln>
        </p:spPr>
      </p:sp>
      <p:sp>
        <p:nvSpPr>
          <p:cNvPr id="27" name="Shape 25"/>
          <p:cNvSpPr/>
          <p:nvPr/>
        </p:nvSpPr>
        <p:spPr>
          <a:xfrm flipV="1">
            <a:off x="6949440" y="914400"/>
            <a:ext cx="914400" cy="1234440"/>
          </a:xfrm>
          <a:prstGeom prst="line">
            <a:avLst/>
          </a:prstGeom>
          <a:noFill/>
          <a:ln w="6350">
            <a:solidFill>
              <a:srgbClr val="3A3F7A"/>
            </a:solidFill>
            <a:prstDash val="solid"/>
          </a:ln>
        </p:spPr>
      </p:sp>
      <p:sp>
        <p:nvSpPr>
          <p:cNvPr id="28" name="Shape 26"/>
          <p:cNvSpPr/>
          <p:nvPr/>
        </p:nvSpPr>
        <p:spPr>
          <a:xfrm flipV="1">
            <a:off x="6949440" y="1417320"/>
            <a:ext cx="914400" cy="731520"/>
          </a:xfrm>
          <a:prstGeom prst="line">
            <a:avLst/>
          </a:prstGeom>
          <a:noFill/>
          <a:ln w="6350">
            <a:solidFill>
              <a:srgbClr val="3A3F7A"/>
            </a:solidFill>
            <a:prstDash val="solid"/>
          </a:ln>
        </p:spPr>
      </p:sp>
      <p:sp>
        <p:nvSpPr>
          <p:cNvPr id="29" name="Shape 27"/>
          <p:cNvSpPr/>
          <p:nvPr/>
        </p:nvSpPr>
        <p:spPr>
          <a:xfrm flipV="1">
            <a:off x="6949440" y="1920240"/>
            <a:ext cx="914400" cy="228600"/>
          </a:xfrm>
          <a:prstGeom prst="line">
            <a:avLst/>
          </a:prstGeom>
          <a:noFill/>
          <a:ln w="6350">
            <a:solidFill>
              <a:srgbClr val="3A3F7A"/>
            </a:solidFill>
            <a:prstDash val="solid"/>
          </a:ln>
        </p:spPr>
      </p:sp>
      <p:sp>
        <p:nvSpPr>
          <p:cNvPr id="30" name="Shape 28"/>
          <p:cNvSpPr/>
          <p:nvPr/>
        </p:nvSpPr>
        <p:spPr>
          <a:xfrm>
            <a:off x="6949440" y="2148840"/>
            <a:ext cx="914400" cy="274320"/>
          </a:xfrm>
          <a:prstGeom prst="line">
            <a:avLst/>
          </a:prstGeom>
          <a:noFill/>
          <a:ln w="6350">
            <a:solidFill>
              <a:srgbClr val="3A3F7A"/>
            </a:solidFill>
            <a:prstDash val="solid"/>
          </a:ln>
        </p:spPr>
      </p:sp>
      <p:sp>
        <p:nvSpPr>
          <p:cNvPr id="31" name="Shape 29"/>
          <p:cNvSpPr/>
          <p:nvPr/>
        </p:nvSpPr>
        <p:spPr>
          <a:xfrm flipV="1">
            <a:off x="6949440" y="914400"/>
            <a:ext cx="914400" cy="1737360"/>
          </a:xfrm>
          <a:prstGeom prst="line">
            <a:avLst/>
          </a:prstGeom>
          <a:noFill/>
          <a:ln w="6350">
            <a:solidFill>
              <a:srgbClr val="3A3F7A"/>
            </a:solidFill>
            <a:prstDash val="solid"/>
          </a:ln>
        </p:spPr>
      </p:sp>
      <p:sp>
        <p:nvSpPr>
          <p:cNvPr id="32" name="Shape 30"/>
          <p:cNvSpPr/>
          <p:nvPr/>
        </p:nvSpPr>
        <p:spPr>
          <a:xfrm flipV="1">
            <a:off x="6949440" y="1417320"/>
            <a:ext cx="914400" cy="1234440"/>
          </a:xfrm>
          <a:prstGeom prst="line">
            <a:avLst/>
          </a:prstGeom>
          <a:noFill/>
          <a:ln w="6350">
            <a:solidFill>
              <a:srgbClr val="3A3F7A"/>
            </a:solidFill>
            <a:prstDash val="solid"/>
          </a:ln>
        </p:spPr>
      </p:sp>
      <p:sp>
        <p:nvSpPr>
          <p:cNvPr id="33" name="Shape 31"/>
          <p:cNvSpPr/>
          <p:nvPr/>
        </p:nvSpPr>
        <p:spPr>
          <a:xfrm flipV="1">
            <a:off x="6949440" y="1920240"/>
            <a:ext cx="914400" cy="731520"/>
          </a:xfrm>
          <a:prstGeom prst="line">
            <a:avLst/>
          </a:prstGeom>
          <a:noFill/>
          <a:ln w="6350">
            <a:solidFill>
              <a:srgbClr val="3A3F7A"/>
            </a:solidFill>
            <a:prstDash val="solid"/>
          </a:ln>
        </p:spPr>
      </p:sp>
      <p:sp>
        <p:nvSpPr>
          <p:cNvPr id="34" name="Shape 32"/>
          <p:cNvSpPr/>
          <p:nvPr/>
        </p:nvSpPr>
        <p:spPr>
          <a:xfrm flipV="1">
            <a:off x="6949440" y="2423160"/>
            <a:ext cx="914400" cy="228600"/>
          </a:xfrm>
          <a:prstGeom prst="line">
            <a:avLst/>
          </a:prstGeom>
          <a:noFill/>
          <a:ln w="6350">
            <a:solidFill>
              <a:srgbClr val="3A3F7A"/>
            </a:solidFill>
            <a:prstDash val="solid"/>
          </a:ln>
        </p:spPr>
      </p:sp>
      <p:sp>
        <p:nvSpPr>
          <p:cNvPr id="35" name="Shape 33"/>
          <p:cNvSpPr/>
          <p:nvPr/>
        </p:nvSpPr>
        <p:spPr>
          <a:xfrm>
            <a:off x="7863840" y="914400"/>
            <a:ext cx="731520" cy="228600"/>
          </a:xfrm>
          <a:prstGeom prst="line">
            <a:avLst/>
          </a:prstGeom>
          <a:noFill/>
          <a:ln w="6350">
            <a:solidFill>
              <a:srgbClr val="3A3F7A"/>
            </a:solidFill>
            <a:prstDash val="solid"/>
          </a:ln>
        </p:spPr>
      </p:sp>
      <p:sp>
        <p:nvSpPr>
          <p:cNvPr id="36" name="Shape 34"/>
          <p:cNvSpPr/>
          <p:nvPr/>
        </p:nvSpPr>
        <p:spPr>
          <a:xfrm>
            <a:off x="7863840" y="914400"/>
            <a:ext cx="731520" cy="731520"/>
          </a:xfrm>
          <a:prstGeom prst="line">
            <a:avLst/>
          </a:prstGeom>
          <a:noFill/>
          <a:ln w="6350">
            <a:solidFill>
              <a:srgbClr val="3A3F7A"/>
            </a:solidFill>
            <a:prstDash val="solid"/>
          </a:ln>
        </p:spPr>
      </p:sp>
      <p:sp>
        <p:nvSpPr>
          <p:cNvPr id="37" name="Shape 35"/>
          <p:cNvSpPr/>
          <p:nvPr/>
        </p:nvSpPr>
        <p:spPr>
          <a:xfrm>
            <a:off x="7863840" y="914400"/>
            <a:ext cx="731520" cy="1234440"/>
          </a:xfrm>
          <a:prstGeom prst="line">
            <a:avLst/>
          </a:prstGeom>
          <a:noFill/>
          <a:ln w="6350">
            <a:solidFill>
              <a:srgbClr val="3A3F7A"/>
            </a:solidFill>
            <a:prstDash val="solid"/>
          </a:ln>
        </p:spPr>
      </p:sp>
      <p:sp>
        <p:nvSpPr>
          <p:cNvPr id="38" name="Shape 36"/>
          <p:cNvSpPr/>
          <p:nvPr/>
        </p:nvSpPr>
        <p:spPr>
          <a:xfrm>
            <a:off x="7863840" y="914400"/>
            <a:ext cx="731520" cy="1737360"/>
          </a:xfrm>
          <a:prstGeom prst="line">
            <a:avLst/>
          </a:prstGeom>
          <a:noFill/>
          <a:ln w="6350">
            <a:solidFill>
              <a:srgbClr val="3A3F7A"/>
            </a:solidFill>
            <a:prstDash val="solid"/>
          </a:ln>
        </p:spPr>
      </p:sp>
      <p:sp>
        <p:nvSpPr>
          <p:cNvPr id="39" name="Shape 37"/>
          <p:cNvSpPr/>
          <p:nvPr/>
        </p:nvSpPr>
        <p:spPr>
          <a:xfrm flipV="1">
            <a:off x="7863840" y="1143000"/>
            <a:ext cx="731520" cy="274320"/>
          </a:xfrm>
          <a:prstGeom prst="line">
            <a:avLst/>
          </a:prstGeom>
          <a:noFill/>
          <a:ln w="6350">
            <a:solidFill>
              <a:srgbClr val="3A3F7A"/>
            </a:solidFill>
            <a:prstDash val="solid"/>
          </a:ln>
        </p:spPr>
      </p:sp>
      <p:sp>
        <p:nvSpPr>
          <p:cNvPr id="40" name="Shape 38"/>
          <p:cNvSpPr/>
          <p:nvPr/>
        </p:nvSpPr>
        <p:spPr>
          <a:xfrm>
            <a:off x="7863840" y="1417320"/>
            <a:ext cx="731520" cy="228600"/>
          </a:xfrm>
          <a:prstGeom prst="line">
            <a:avLst/>
          </a:prstGeom>
          <a:noFill/>
          <a:ln w="6350">
            <a:solidFill>
              <a:srgbClr val="3A3F7A"/>
            </a:solidFill>
            <a:prstDash val="solid"/>
          </a:ln>
        </p:spPr>
      </p:sp>
      <p:sp>
        <p:nvSpPr>
          <p:cNvPr id="41" name="Shape 39"/>
          <p:cNvSpPr/>
          <p:nvPr/>
        </p:nvSpPr>
        <p:spPr>
          <a:xfrm>
            <a:off x="7863840" y="1417320"/>
            <a:ext cx="731520" cy="731520"/>
          </a:xfrm>
          <a:prstGeom prst="line">
            <a:avLst/>
          </a:prstGeom>
          <a:noFill/>
          <a:ln w="6350">
            <a:solidFill>
              <a:srgbClr val="3A3F7A"/>
            </a:solidFill>
            <a:prstDash val="solid"/>
          </a:ln>
        </p:spPr>
      </p:sp>
      <p:sp>
        <p:nvSpPr>
          <p:cNvPr id="42" name="Shape 40"/>
          <p:cNvSpPr/>
          <p:nvPr/>
        </p:nvSpPr>
        <p:spPr>
          <a:xfrm>
            <a:off x="7863840" y="1417320"/>
            <a:ext cx="731520" cy="1234440"/>
          </a:xfrm>
          <a:prstGeom prst="line">
            <a:avLst/>
          </a:prstGeom>
          <a:noFill/>
          <a:ln w="6350">
            <a:solidFill>
              <a:srgbClr val="3A3F7A"/>
            </a:solidFill>
            <a:prstDash val="solid"/>
          </a:ln>
        </p:spPr>
      </p:sp>
      <p:sp>
        <p:nvSpPr>
          <p:cNvPr id="43" name="Shape 41"/>
          <p:cNvSpPr/>
          <p:nvPr/>
        </p:nvSpPr>
        <p:spPr>
          <a:xfrm flipV="1">
            <a:off x="7863840" y="1143000"/>
            <a:ext cx="731520" cy="777240"/>
          </a:xfrm>
          <a:prstGeom prst="line">
            <a:avLst/>
          </a:prstGeom>
          <a:noFill/>
          <a:ln w="6350">
            <a:solidFill>
              <a:srgbClr val="3A3F7A"/>
            </a:solidFill>
            <a:prstDash val="solid"/>
          </a:ln>
        </p:spPr>
      </p:sp>
      <p:sp>
        <p:nvSpPr>
          <p:cNvPr id="44" name="Shape 42"/>
          <p:cNvSpPr/>
          <p:nvPr/>
        </p:nvSpPr>
        <p:spPr>
          <a:xfrm flipV="1">
            <a:off x="7863840" y="1645920"/>
            <a:ext cx="731520" cy="274320"/>
          </a:xfrm>
          <a:prstGeom prst="line">
            <a:avLst/>
          </a:prstGeom>
          <a:noFill/>
          <a:ln w="6350">
            <a:solidFill>
              <a:srgbClr val="3A3F7A"/>
            </a:solidFill>
            <a:prstDash val="solid"/>
          </a:ln>
        </p:spPr>
      </p:sp>
      <p:sp>
        <p:nvSpPr>
          <p:cNvPr id="45" name="Shape 43"/>
          <p:cNvSpPr/>
          <p:nvPr/>
        </p:nvSpPr>
        <p:spPr>
          <a:xfrm>
            <a:off x="7863840" y="1920240"/>
            <a:ext cx="731520" cy="228600"/>
          </a:xfrm>
          <a:prstGeom prst="line">
            <a:avLst/>
          </a:prstGeom>
          <a:noFill/>
          <a:ln w="6350">
            <a:solidFill>
              <a:srgbClr val="3A3F7A"/>
            </a:solidFill>
            <a:prstDash val="solid"/>
          </a:ln>
        </p:spPr>
      </p:sp>
      <p:sp>
        <p:nvSpPr>
          <p:cNvPr id="46" name="Shape 44"/>
          <p:cNvSpPr/>
          <p:nvPr/>
        </p:nvSpPr>
        <p:spPr>
          <a:xfrm>
            <a:off x="7863840" y="1920240"/>
            <a:ext cx="731520" cy="731520"/>
          </a:xfrm>
          <a:prstGeom prst="line">
            <a:avLst/>
          </a:prstGeom>
          <a:noFill/>
          <a:ln w="6350">
            <a:solidFill>
              <a:srgbClr val="3A3F7A"/>
            </a:solidFill>
            <a:prstDash val="solid"/>
          </a:ln>
        </p:spPr>
      </p:sp>
      <p:sp>
        <p:nvSpPr>
          <p:cNvPr id="47" name="Shape 45"/>
          <p:cNvSpPr/>
          <p:nvPr/>
        </p:nvSpPr>
        <p:spPr>
          <a:xfrm flipV="1">
            <a:off x="7863840" y="1143000"/>
            <a:ext cx="731520" cy="1280160"/>
          </a:xfrm>
          <a:prstGeom prst="line">
            <a:avLst/>
          </a:prstGeom>
          <a:noFill/>
          <a:ln w="6350">
            <a:solidFill>
              <a:srgbClr val="3A3F7A"/>
            </a:solidFill>
            <a:prstDash val="solid"/>
          </a:ln>
        </p:spPr>
      </p:sp>
      <p:sp>
        <p:nvSpPr>
          <p:cNvPr id="48" name="Shape 46"/>
          <p:cNvSpPr/>
          <p:nvPr/>
        </p:nvSpPr>
        <p:spPr>
          <a:xfrm flipV="1">
            <a:off x="7863840" y="1645920"/>
            <a:ext cx="731520" cy="777240"/>
          </a:xfrm>
          <a:prstGeom prst="line">
            <a:avLst/>
          </a:prstGeom>
          <a:noFill/>
          <a:ln w="6350">
            <a:solidFill>
              <a:srgbClr val="3A3F7A"/>
            </a:solidFill>
            <a:prstDash val="solid"/>
          </a:ln>
        </p:spPr>
      </p:sp>
      <p:sp>
        <p:nvSpPr>
          <p:cNvPr id="49" name="Shape 47"/>
          <p:cNvSpPr/>
          <p:nvPr/>
        </p:nvSpPr>
        <p:spPr>
          <a:xfrm flipV="1">
            <a:off x="7863840" y="2148840"/>
            <a:ext cx="731520" cy="274320"/>
          </a:xfrm>
          <a:prstGeom prst="line">
            <a:avLst/>
          </a:prstGeom>
          <a:noFill/>
          <a:ln w="6350">
            <a:solidFill>
              <a:srgbClr val="3A3F7A"/>
            </a:solidFill>
            <a:prstDash val="solid"/>
          </a:ln>
        </p:spPr>
      </p:sp>
      <p:sp>
        <p:nvSpPr>
          <p:cNvPr id="50" name="Shape 48"/>
          <p:cNvSpPr/>
          <p:nvPr/>
        </p:nvSpPr>
        <p:spPr>
          <a:xfrm>
            <a:off x="7863840" y="2423160"/>
            <a:ext cx="731520" cy="228600"/>
          </a:xfrm>
          <a:prstGeom prst="line">
            <a:avLst/>
          </a:prstGeom>
          <a:noFill/>
          <a:ln w="6350">
            <a:solidFill>
              <a:srgbClr val="3A3F7A"/>
            </a:solidFill>
            <a:prstDash val="solid"/>
          </a:ln>
        </p:spPr>
      </p:sp>
      <p:sp>
        <p:nvSpPr>
          <p:cNvPr id="51" name="Shape 49"/>
          <p:cNvSpPr/>
          <p:nvPr/>
        </p:nvSpPr>
        <p:spPr>
          <a:xfrm>
            <a:off x="5943600" y="822960"/>
            <a:ext cx="182880" cy="182880"/>
          </a:xfrm>
          <a:prstGeom prst="ellipse">
            <a:avLst/>
          </a:prstGeom>
          <a:solidFill>
            <a:srgbClr val="8F86F0"/>
          </a:solidFill>
          <a:ln w="12700">
            <a:solidFill>
              <a:srgbClr val="8F86F0"/>
            </a:solidFill>
            <a:prstDash val="solid"/>
          </a:ln>
        </p:spPr>
      </p:sp>
      <p:sp>
        <p:nvSpPr>
          <p:cNvPr id="52" name="Shape 50"/>
          <p:cNvSpPr/>
          <p:nvPr/>
        </p:nvSpPr>
        <p:spPr>
          <a:xfrm>
            <a:off x="5943600" y="1325880"/>
            <a:ext cx="182880" cy="182880"/>
          </a:xfrm>
          <a:prstGeom prst="ellipse">
            <a:avLst/>
          </a:prstGeom>
          <a:solidFill>
            <a:srgbClr val="8F86F0"/>
          </a:solidFill>
          <a:ln w="12700">
            <a:solidFill>
              <a:srgbClr val="8F86F0"/>
            </a:solidFill>
            <a:prstDash val="solid"/>
          </a:ln>
        </p:spPr>
      </p:sp>
      <p:sp>
        <p:nvSpPr>
          <p:cNvPr id="53" name="Shape 51"/>
          <p:cNvSpPr/>
          <p:nvPr/>
        </p:nvSpPr>
        <p:spPr>
          <a:xfrm>
            <a:off x="5943600" y="1828800"/>
            <a:ext cx="182880" cy="182880"/>
          </a:xfrm>
          <a:prstGeom prst="ellipse">
            <a:avLst/>
          </a:prstGeom>
          <a:solidFill>
            <a:srgbClr val="8F86F0"/>
          </a:solidFill>
          <a:ln w="12700">
            <a:solidFill>
              <a:srgbClr val="8F86F0"/>
            </a:solidFill>
            <a:prstDash val="solid"/>
          </a:ln>
        </p:spPr>
      </p:sp>
      <p:sp>
        <p:nvSpPr>
          <p:cNvPr id="54" name="Shape 52"/>
          <p:cNvSpPr/>
          <p:nvPr/>
        </p:nvSpPr>
        <p:spPr>
          <a:xfrm>
            <a:off x="5943600" y="2331720"/>
            <a:ext cx="182880" cy="182880"/>
          </a:xfrm>
          <a:prstGeom prst="ellipse">
            <a:avLst/>
          </a:prstGeom>
          <a:solidFill>
            <a:srgbClr val="8F86F0"/>
          </a:solidFill>
          <a:ln w="12700">
            <a:solidFill>
              <a:srgbClr val="8F86F0"/>
            </a:solidFill>
            <a:prstDash val="solid"/>
          </a:ln>
        </p:spPr>
      </p:sp>
      <p:sp>
        <p:nvSpPr>
          <p:cNvPr id="55" name="Shape 53"/>
          <p:cNvSpPr/>
          <p:nvPr/>
        </p:nvSpPr>
        <p:spPr>
          <a:xfrm>
            <a:off x="6858000" y="1051560"/>
            <a:ext cx="182880" cy="182880"/>
          </a:xfrm>
          <a:prstGeom prst="ellipse">
            <a:avLst/>
          </a:prstGeom>
          <a:solidFill>
            <a:srgbClr val="8F86F0"/>
          </a:solidFill>
          <a:ln w="12700">
            <a:solidFill>
              <a:srgbClr val="8F86F0"/>
            </a:solidFill>
            <a:prstDash val="solid"/>
          </a:ln>
        </p:spPr>
      </p:sp>
      <p:sp>
        <p:nvSpPr>
          <p:cNvPr id="56" name="Shape 54"/>
          <p:cNvSpPr/>
          <p:nvPr/>
        </p:nvSpPr>
        <p:spPr>
          <a:xfrm>
            <a:off x="6858000" y="1554480"/>
            <a:ext cx="182880" cy="182880"/>
          </a:xfrm>
          <a:prstGeom prst="ellipse">
            <a:avLst/>
          </a:prstGeom>
          <a:solidFill>
            <a:srgbClr val="8F86F0"/>
          </a:solidFill>
          <a:ln w="12700">
            <a:solidFill>
              <a:srgbClr val="8F86F0"/>
            </a:solidFill>
            <a:prstDash val="solid"/>
          </a:ln>
        </p:spPr>
      </p:sp>
      <p:sp>
        <p:nvSpPr>
          <p:cNvPr id="57" name="Shape 55"/>
          <p:cNvSpPr/>
          <p:nvPr/>
        </p:nvSpPr>
        <p:spPr>
          <a:xfrm>
            <a:off x="6858000" y="2057400"/>
            <a:ext cx="182880" cy="182880"/>
          </a:xfrm>
          <a:prstGeom prst="ellipse">
            <a:avLst/>
          </a:prstGeom>
          <a:solidFill>
            <a:srgbClr val="8F86F0"/>
          </a:solidFill>
          <a:ln w="12700">
            <a:solidFill>
              <a:srgbClr val="8F86F0"/>
            </a:solidFill>
            <a:prstDash val="solid"/>
          </a:ln>
        </p:spPr>
      </p:sp>
      <p:sp>
        <p:nvSpPr>
          <p:cNvPr id="58" name="Shape 56"/>
          <p:cNvSpPr/>
          <p:nvPr/>
        </p:nvSpPr>
        <p:spPr>
          <a:xfrm>
            <a:off x="6858000" y="2560320"/>
            <a:ext cx="182880" cy="182880"/>
          </a:xfrm>
          <a:prstGeom prst="ellipse">
            <a:avLst/>
          </a:prstGeom>
          <a:solidFill>
            <a:srgbClr val="8F86F0"/>
          </a:solidFill>
          <a:ln w="12700">
            <a:solidFill>
              <a:srgbClr val="8F86F0"/>
            </a:solidFill>
            <a:prstDash val="solid"/>
          </a:ln>
        </p:spPr>
      </p:sp>
      <p:sp>
        <p:nvSpPr>
          <p:cNvPr id="59" name="Shape 57"/>
          <p:cNvSpPr/>
          <p:nvPr/>
        </p:nvSpPr>
        <p:spPr>
          <a:xfrm>
            <a:off x="7772400" y="822960"/>
            <a:ext cx="182880" cy="182880"/>
          </a:xfrm>
          <a:prstGeom prst="ellipse">
            <a:avLst/>
          </a:prstGeom>
          <a:solidFill>
            <a:srgbClr val="8F86F0"/>
          </a:solidFill>
          <a:ln w="12700">
            <a:solidFill>
              <a:srgbClr val="8F86F0"/>
            </a:solidFill>
            <a:prstDash val="solid"/>
          </a:ln>
        </p:spPr>
      </p:sp>
      <p:sp>
        <p:nvSpPr>
          <p:cNvPr id="60" name="Shape 58"/>
          <p:cNvSpPr/>
          <p:nvPr/>
        </p:nvSpPr>
        <p:spPr>
          <a:xfrm>
            <a:off x="7772400" y="1325880"/>
            <a:ext cx="182880" cy="182880"/>
          </a:xfrm>
          <a:prstGeom prst="ellipse">
            <a:avLst/>
          </a:prstGeom>
          <a:solidFill>
            <a:srgbClr val="8F86F0"/>
          </a:solidFill>
          <a:ln w="12700">
            <a:solidFill>
              <a:srgbClr val="8F86F0"/>
            </a:solidFill>
            <a:prstDash val="solid"/>
          </a:ln>
        </p:spPr>
      </p:sp>
      <p:sp>
        <p:nvSpPr>
          <p:cNvPr id="61" name="Shape 59"/>
          <p:cNvSpPr/>
          <p:nvPr/>
        </p:nvSpPr>
        <p:spPr>
          <a:xfrm>
            <a:off x="7772400" y="1828800"/>
            <a:ext cx="182880" cy="182880"/>
          </a:xfrm>
          <a:prstGeom prst="ellipse">
            <a:avLst/>
          </a:prstGeom>
          <a:solidFill>
            <a:srgbClr val="8F86F0"/>
          </a:solidFill>
          <a:ln w="12700">
            <a:solidFill>
              <a:srgbClr val="8F86F0"/>
            </a:solidFill>
            <a:prstDash val="solid"/>
          </a:ln>
        </p:spPr>
      </p:sp>
      <p:sp>
        <p:nvSpPr>
          <p:cNvPr id="62" name="Shape 60"/>
          <p:cNvSpPr/>
          <p:nvPr/>
        </p:nvSpPr>
        <p:spPr>
          <a:xfrm>
            <a:off x="7772400" y="2331720"/>
            <a:ext cx="182880" cy="182880"/>
          </a:xfrm>
          <a:prstGeom prst="ellipse">
            <a:avLst/>
          </a:prstGeom>
          <a:solidFill>
            <a:srgbClr val="8F86F0"/>
          </a:solidFill>
          <a:ln w="12700">
            <a:solidFill>
              <a:srgbClr val="8F86F0"/>
            </a:solidFill>
            <a:prstDash val="solid"/>
          </a:ln>
        </p:spPr>
      </p:sp>
      <p:sp>
        <p:nvSpPr>
          <p:cNvPr id="63" name="Shape 61"/>
          <p:cNvSpPr/>
          <p:nvPr/>
        </p:nvSpPr>
        <p:spPr>
          <a:xfrm>
            <a:off x="8503920" y="1051560"/>
            <a:ext cx="182880" cy="182880"/>
          </a:xfrm>
          <a:prstGeom prst="ellipse">
            <a:avLst/>
          </a:prstGeom>
          <a:solidFill>
            <a:srgbClr val="8F86F0"/>
          </a:solidFill>
          <a:ln w="12700">
            <a:solidFill>
              <a:srgbClr val="8F86F0"/>
            </a:solidFill>
            <a:prstDash val="solid"/>
          </a:ln>
        </p:spPr>
      </p:sp>
      <p:sp>
        <p:nvSpPr>
          <p:cNvPr id="64" name="Shape 62"/>
          <p:cNvSpPr/>
          <p:nvPr/>
        </p:nvSpPr>
        <p:spPr>
          <a:xfrm>
            <a:off x="8503920" y="1554480"/>
            <a:ext cx="182880" cy="182880"/>
          </a:xfrm>
          <a:prstGeom prst="ellipse">
            <a:avLst/>
          </a:prstGeom>
          <a:solidFill>
            <a:srgbClr val="8F86F0"/>
          </a:solidFill>
          <a:ln w="12700">
            <a:solidFill>
              <a:srgbClr val="8F86F0"/>
            </a:solidFill>
            <a:prstDash val="solid"/>
          </a:ln>
        </p:spPr>
      </p:sp>
      <p:sp>
        <p:nvSpPr>
          <p:cNvPr id="65" name="Shape 63"/>
          <p:cNvSpPr/>
          <p:nvPr/>
        </p:nvSpPr>
        <p:spPr>
          <a:xfrm>
            <a:off x="8503920" y="2057400"/>
            <a:ext cx="182880" cy="182880"/>
          </a:xfrm>
          <a:prstGeom prst="ellipse">
            <a:avLst/>
          </a:prstGeom>
          <a:solidFill>
            <a:srgbClr val="8F86F0"/>
          </a:solidFill>
          <a:ln w="12700">
            <a:solidFill>
              <a:srgbClr val="8F86F0"/>
            </a:solidFill>
            <a:prstDash val="solid"/>
          </a:ln>
        </p:spPr>
      </p:sp>
      <p:sp>
        <p:nvSpPr>
          <p:cNvPr id="66" name="Shape 64"/>
          <p:cNvSpPr/>
          <p:nvPr/>
        </p:nvSpPr>
        <p:spPr>
          <a:xfrm>
            <a:off x="8503920" y="2560320"/>
            <a:ext cx="182880" cy="182880"/>
          </a:xfrm>
          <a:prstGeom prst="ellipse">
            <a:avLst/>
          </a:prstGeom>
          <a:solidFill>
            <a:srgbClr val="8F86F0"/>
          </a:solidFill>
          <a:ln w="12700">
            <a:solidFill>
              <a:srgbClr val="8F86F0"/>
            </a:solidFill>
            <a:prstDash val="solid"/>
          </a:ln>
        </p:spPr>
      </p:sp>
      <p:pic>
        <p:nvPicPr>
          <p:cNvPr id="67" name="Image 0" descr="preencoded.png">    </p:cNvPr>
          <p:cNvPicPr>
            <a:picLocks noChangeAspect="1"/>
          </p:cNvPicPr>
          <p:nvPr/>
        </p:nvPicPr>
        <p:blipFill>
          <a:blip r:embed="rId1"/>
          <a:stretch>
            <a:fillRect/>
          </a:stretch>
        </p:blipFill>
        <p:spPr>
          <a:xfrm>
            <a:off x="6309360" y="2743200"/>
            <a:ext cx="2194560" cy="2194560"/>
          </a:xfrm>
          <a:prstGeom prst="rect">
            <a:avLst/>
          </a:prstGeom>
        </p:spPr>
      </p:pic>
      <p:pic>
        <p:nvPicPr>
          <p:cNvPr id="68" name="Image 1" descr="preencoded.png">    </p:cNvPr>
          <p:cNvPicPr>
            <a:picLocks noChangeAspect="1"/>
          </p:cNvPicPr>
          <p:nvPr/>
        </p:nvPicPr>
        <p:blipFill>
          <a:blip r:embed="rId2"/>
          <a:stretch>
            <a:fillRect/>
          </a:stretch>
        </p:blipFill>
        <p:spPr>
          <a:xfrm>
            <a:off x="7086600" y="3291840"/>
            <a:ext cx="640080" cy="640080"/>
          </a:xfrm>
          <a:prstGeom prst="rect">
            <a:avLst/>
          </a:prstGeom>
        </p:spPr>
      </p:pic>
      <p:sp>
        <p:nvSpPr>
          <p:cNvPr id="69" name="Text 65"/>
          <p:cNvSpPr txBox="1"/>
          <p:nvPr/>
        </p:nvSpPr>
        <p:spPr>
          <a:xfrm>
            <a:off x="548640" y="457200"/>
            <a:ext cx="5486400" cy="914400"/>
          </a:xfrm>
          <a:prstGeom prst="rect">
            <a:avLst/>
          </a:prstGeom>
          <a:noFill/>
          <a:ln/>
        </p:spPr>
        <p:txBody>
          <a:bodyPr wrap="square" lIns="635" tIns="635" rIns="635" bIns="635"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EduAssist AI</a:t>
            </a:r>
            <a:endParaRPr lang="en-US" sz="5400" dirty="0"/>
          </a:p>
        </p:txBody>
      </p:sp>
      <p:sp>
        <p:nvSpPr>
          <p:cNvPr id="70" name="Text 66"/>
          <p:cNvSpPr txBox="1"/>
          <p:nvPr/>
        </p:nvSpPr>
        <p:spPr>
          <a:xfrm>
            <a:off x="548640" y="1371600"/>
            <a:ext cx="5212080" cy="731520"/>
          </a:xfrm>
          <a:prstGeom prst="rect">
            <a:avLst/>
          </a:prstGeom>
          <a:noFill/>
          <a:ln/>
        </p:spPr>
        <p:txBody>
          <a:bodyPr wrap="square" lIns="635" tIns="635" rIns="635" bIns="635" rtlCol="0" anchor="ctr"/>
          <a:lstStyle/>
          <a:p>
            <a:pPr indent="0" marL="0">
              <a:buNone/>
            </a:pPr>
            <a:r>
              <a:rPr lang="en-US" sz="1700" dirty="0">
                <a:solidFill>
                  <a:srgbClr val="C9C4FA"/>
                </a:solidFill>
                <a:latin typeface="Calibri" pitchFamily="34" charset="0"/>
                <a:ea typeface="Calibri" pitchFamily="34" charset="-122"/>
                <a:cs typeface="Calibri" pitchFamily="34" charset="-120"/>
              </a:rPr>
              <a:t>Cloud-Based AI Academic Assistant for Student Performance Enhancement</a:t>
            </a:r>
            <a:endParaRPr lang="en-US" sz="1700" dirty="0"/>
          </a:p>
        </p:txBody>
      </p:sp>
      <p:sp>
        <p:nvSpPr>
          <p:cNvPr id="71" name="Text 67"/>
          <p:cNvSpPr txBox="1"/>
          <p:nvPr/>
        </p:nvSpPr>
        <p:spPr>
          <a:xfrm>
            <a:off x="548640" y="2148840"/>
            <a:ext cx="5303520" cy="457200"/>
          </a:xfrm>
          <a:prstGeom prst="rect">
            <a:avLst/>
          </a:prstGeom>
          <a:noFill/>
          <a:ln/>
        </p:spPr>
        <p:txBody>
          <a:bodyPr wrap="square" lIns="635" tIns="635" rIns="635" bIns="635"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SRES' Sanjivani College of Engineering, Kopargaon | Academic Year 2026–2027</a:t>
            </a:r>
            <a:endParaRPr lang="en-US" sz="1200" dirty="0"/>
          </a:p>
        </p:txBody>
      </p:sp>
      <p:sp>
        <p:nvSpPr>
          <p:cNvPr id="72" name="Text 68"/>
          <p:cNvSpPr txBox="1"/>
          <p:nvPr/>
        </p:nvSpPr>
        <p:spPr>
          <a:xfrm>
            <a:off x="548640" y="2606040"/>
            <a:ext cx="5303520" cy="320040"/>
          </a:xfrm>
          <a:prstGeom prst="rect">
            <a:avLst/>
          </a:prstGeom>
          <a:noFill/>
          <a:ln/>
        </p:spPr>
        <p:txBody>
          <a:bodyPr wrap="square" lIns="635" tIns="635" rIns="635" bIns="635"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Project Guide: Prof. S. S. Kulkarni</a:t>
            </a:r>
            <a:endParaRPr lang="en-US" sz="1400" dirty="0"/>
          </a:p>
        </p:txBody>
      </p:sp>
      <p:sp>
        <p:nvSpPr>
          <p:cNvPr id="73" name="Text 69"/>
          <p:cNvSpPr txBox="1"/>
          <p:nvPr/>
        </p:nvSpPr>
        <p:spPr>
          <a:xfrm>
            <a:off x="548640" y="3063240"/>
            <a:ext cx="5303520" cy="1188720"/>
          </a:xfrm>
          <a:prstGeom prst="rect">
            <a:avLst/>
          </a:prstGeom>
          <a:noFill/>
          <a:ln/>
        </p:spPr>
        <p:txBody>
          <a:bodyPr wrap="square" lIns="635" tIns="635" rIns="635" bIns="635" rtlCol="0" anchor="t"/>
          <a:lstStyle/>
          <a:p>
            <a:pPr indent="0" marL="0">
              <a:buNone/>
            </a:pPr>
            <a:r>
              <a:rPr lang="en-US" sz="1300" dirty="0">
                <a:solidFill>
                  <a:srgbClr val="FFFFFF"/>
                </a:solidFill>
                <a:latin typeface="Calibri" pitchFamily="34" charset="0"/>
                <a:ea typeface="Calibri" pitchFamily="34" charset="-122"/>
                <a:cs typeface="Calibri" pitchFamily="34" charset="-120"/>
              </a:rPr>
              <a:t>Team</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Sakshi Ramdas Zurale — UEC23F1069</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Sakshi Vijay Thakare — UEC23F1064</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Vrushali Sarangdhar Mhaismale — UEC21F1036</a:t>
            </a:r>
            <a:endParaRPr lang="en-US" sz="1300" dirty="0"/>
          </a:p>
        </p:txBody>
      </p:sp>
      <p:sp>
        <p:nvSpPr>
          <p:cNvPr id="74" name="Shape 70"/>
          <p:cNvSpPr/>
          <p:nvPr/>
        </p:nvSpPr>
        <p:spPr>
          <a:xfrm>
            <a:off x="548640" y="4434840"/>
            <a:ext cx="1463040" cy="292608"/>
          </a:xfrm>
          <a:prstGeom prst="roundRect">
            <a:avLst>
              <a:gd name="adj" fmla="val 25000"/>
            </a:avLst>
          </a:prstGeom>
          <a:solidFill>
            <a:srgbClr val="6554E8"/>
          </a:solidFill>
          <a:ln w="12700">
            <a:solidFill>
              <a:srgbClr val="6554E8"/>
            </a:solidFill>
            <a:prstDash val="solid"/>
          </a:ln>
        </p:spPr>
      </p:sp>
      <p:sp>
        <p:nvSpPr>
          <p:cNvPr id="75" name="Text 71"/>
          <p:cNvSpPr txBox="1"/>
          <p:nvPr/>
        </p:nvSpPr>
        <p:spPr>
          <a:xfrm>
            <a:off x="548640" y="4434840"/>
            <a:ext cx="1463040" cy="292608"/>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Deep Learning</a:t>
            </a:r>
            <a:endParaRPr lang="en-US" sz="1100" dirty="0"/>
          </a:p>
        </p:txBody>
      </p:sp>
      <p:sp>
        <p:nvSpPr>
          <p:cNvPr id="76" name="Shape 72"/>
          <p:cNvSpPr/>
          <p:nvPr/>
        </p:nvSpPr>
        <p:spPr>
          <a:xfrm>
            <a:off x="2148840" y="4434840"/>
            <a:ext cx="1645920" cy="292608"/>
          </a:xfrm>
          <a:prstGeom prst="roundRect">
            <a:avLst>
              <a:gd name="adj" fmla="val 25000"/>
            </a:avLst>
          </a:prstGeom>
          <a:solidFill>
            <a:srgbClr val="6554E8"/>
          </a:solidFill>
          <a:ln w="12700">
            <a:solidFill>
              <a:srgbClr val="6554E8"/>
            </a:solidFill>
            <a:prstDash val="solid"/>
          </a:ln>
        </p:spPr>
      </p:sp>
      <p:sp>
        <p:nvSpPr>
          <p:cNvPr id="77" name="Text 73"/>
          <p:cNvSpPr txBox="1"/>
          <p:nvPr/>
        </p:nvSpPr>
        <p:spPr>
          <a:xfrm>
            <a:off x="2148840" y="4434840"/>
            <a:ext cx="1645920" cy="292608"/>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 Computing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Overview, Problem &amp; Objectives</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365760" y="914400"/>
            <a:ext cx="1499616" cy="594360"/>
          </a:xfrm>
          <a:prstGeom prst="roundRect">
            <a:avLst>
              <a:gd name="adj" fmla="val 12308"/>
            </a:avLst>
          </a:prstGeom>
          <a:solidFill>
            <a:srgbClr val="171936"/>
          </a:solidFill>
          <a:ln w="12700">
            <a:solidFill>
              <a:srgbClr val="171936"/>
            </a:solidFill>
            <a:prstDash val="solid"/>
          </a:ln>
        </p:spPr>
      </p:sp>
      <p:sp>
        <p:nvSpPr>
          <p:cNvPr id="8" name="Text 5"/>
          <p:cNvSpPr txBox="1"/>
          <p:nvPr/>
        </p:nvSpPr>
        <p:spPr>
          <a:xfrm>
            <a:off x="365760" y="914400"/>
            <a:ext cx="1499616" cy="5943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Student Data</a:t>
            </a:r>
            <a:endParaRPr lang="en-US" sz="1050" dirty="0"/>
          </a:p>
        </p:txBody>
      </p:sp>
      <p:sp>
        <p:nvSpPr>
          <p:cNvPr id="9" name="Text 6"/>
          <p:cNvSpPr txBox="1"/>
          <p:nvPr/>
        </p:nvSpPr>
        <p:spPr>
          <a:xfrm>
            <a:off x="1865376" y="914400"/>
            <a:ext cx="228600" cy="59436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2093976" y="914400"/>
            <a:ext cx="1499616" cy="594360"/>
          </a:xfrm>
          <a:prstGeom prst="roundRect">
            <a:avLst>
              <a:gd name="adj" fmla="val 12308"/>
            </a:avLst>
          </a:prstGeom>
          <a:solidFill>
            <a:srgbClr val="6554E8"/>
          </a:solidFill>
          <a:ln w="12700">
            <a:solidFill>
              <a:srgbClr val="6554E8"/>
            </a:solidFill>
            <a:prstDash val="solid"/>
          </a:ln>
        </p:spPr>
      </p:sp>
      <p:sp>
        <p:nvSpPr>
          <p:cNvPr id="11" name="Text 8"/>
          <p:cNvSpPr txBox="1"/>
          <p:nvPr/>
        </p:nvSpPr>
        <p:spPr>
          <a:xfrm>
            <a:off x="2093976" y="914400"/>
            <a:ext cx="1499616" cy="5943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Analysis</a:t>
            </a:r>
            <a:endParaRPr lang="en-US" sz="1050" dirty="0"/>
          </a:p>
        </p:txBody>
      </p:sp>
      <p:sp>
        <p:nvSpPr>
          <p:cNvPr id="12" name="Text 9"/>
          <p:cNvSpPr txBox="1"/>
          <p:nvPr/>
        </p:nvSpPr>
        <p:spPr>
          <a:xfrm>
            <a:off x="3593592" y="914400"/>
            <a:ext cx="228600" cy="59436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3822192" y="914400"/>
            <a:ext cx="1499616" cy="594360"/>
          </a:xfrm>
          <a:prstGeom prst="roundRect">
            <a:avLst>
              <a:gd name="adj" fmla="val 12308"/>
            </a:avLst>
          </a:prstGeom>
          <a:solidFill>
            <a:srgbClr val="6554E8"/>
          </a:solidFill>
          <a:ln w="12700">
            <a:solidFill>
              <a:srgbClr val="6554E8"/>
            </a:solidFill>
            <a:prstDash val="solid"/>
          </a:ln>
        </p:spPr>
      </p:sp>
      <p:sp>
        <p:nvSpPr>
          <p:cNvPr id="14" name="Text 11"/>
          <p:cNvSpPr txBox="1"/>
          <p:nvPr/>
        </p:nvSpPr>
        <p:spPr>
          <a:xfrm>
            <a:off x="3822192" y="914400"/>
            <a:ext cx="1499616" cy="5943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Chat Assistant</a:t>
            </a:r>
            <a:endParaRPr lang="en-US" sz="1050" dirty="0"/>
          </a:p>
        </p:txBody>
      </p:sp>
      <p:sp>
        <p:nvSpPr>
          <p:cNvPr id="15" name="Text 12"/>
          <p:cNvSpPr txBox="1"/>
          <p:nvPr/>
        </p:nvSpPr>
        <p:spPr>
          <a:xfrm>
            <a:off x="5321808" y="914400"/>
            <a:ext cx="228600" cy="59436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6" name="Shape 13"/>
          <p:cNvSpPr/>
          <p:nvPr/>
        </p:nvSpPr>
        <p:spPr>
          <a:xfrm>
            <a:off x="5550408" y="914400"/>
            <a:ext cx="1499616" cy="594360"/>
          </a:xfrm>
          <a:prstGeom prst="roundRect">
            <a:avLst>
              <a:gd name="adj" fmla="val 12308"/>
            </a:avLst>
          </a:prstGeom>
          <a:solidFill>
            <a:srgbClr val="2B2F66"/>
          </a:solidFill>
          <a:ln w="12700">
            <a:solidFill>
              <a:srgbClr val="2B2F66"/>
            </a:solidFill>
            <a:prstDash val="solid"/>
          </a:ln>
        </p:spPr>
      </p:sp>
      <p:sp>
        <p:nvSpPr>
          <p:cNvPr id="17" name="Text 14"/>
          <p:cNvSpPr txBox="1"/>
          <p:nvPr/>
        </p:nvSpPr>
        <p:spPr>
          <a:xfrm>
            <a:off x="5550408" y="914400"/>
            <a:ext cx="1499616" cy="5943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PDF Report</a:t>
            </a:r>
            <a:endParaRPr lang="en-US" sz="1050" dirty="0"/>
          </a:p>
        </p:txBody>
      </p:sp>
      <p:sp>
        <p:nvSpPr>
          <p:cNvPr id="18" name="Text 15"/>
          <p:cNvSpPr txBox="1"/>
          <p:nvPr/>
        </p:nvSpPr>
        <p:spPr>
          <a:xfrm>
            <a:off x="7050024" y="914400"/>
            <a:ext cx="228600" cy="59436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9" name="Shape 16"/>
          <p:cNvSpPr/>
          <p:nvPr/>
        </p:nvSpPr>
        <p:spPr>
          <a:xfrm>
            <a:off x="7278624" y="914400"/>
            <a:ext cx="1499616" cy="594360"/>
          </a:xfrm>
          <a:prstGeom prst="roundRect">
            <a:avLst>
              <a:gd name="adj" fmla="val 12308"/>
            </a:avLst>
          </a:prstGeom>
          <a:solidFill>
            <a:srgbClr val="15966B"/>
          </a:solidFill>
          <a:ln w="12700">
            <a:solidFill>
              <a:srgbClr val="15966B"/>
            </a:solidFill>
            <a:prstDash val="solid"/>
          </a:ln>
        </p:spPr>
      </p:sp>
      <p:sp>
        <p:nvSpPr>
          <p:cNvPr id="20" name="Text 17"/>
          <p:cNvSpPr txBox="1"/>
          <p:nvPr/>
        </p:nvSpPr>
        <p:spPr>
          <a:xfrm>
            <a:off x="7278624" y="914400"/>
            <a:ext cx="1499616" cy="5943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Amazon S3</a:t>
            </a:r>
            <a:endParaRPr lang="en-US" sz="1050" dirty="0"/>
          </a:p>
        </p:txBody>
      </p:sp>
      <p:sp>
        <p:nvSpPr>
          <p:cNvPr id="21" name="Shape 18"/>
          <p:cNvSpPr/>
          <p:nvPr/>
        </p:nvSpPr>
        <p:spPr>
          <a:xfrm>
            <a:off x="365760" y="1737360"/>
            <a:ext cx="2697480" cy="2651760"/>
          </a:xfrm>
          <a:prstGeom prst="rect">
            <a:avLst/>
          </a:prstGeom>
          <a:solidFill>
            <a:srgbClr val="F0EDFF"/>
          </a:solidFill>
          <a:ln w="12700">
            <a:solidFill>
              <a:srgbClr val="F0EDFF"/>
            </a:solidFill>
            <a:prstDash val="solid"/>
          </a:ln>
        </p:spPr>
      </p:sp>
      <p:sp>
        <p:nvSpPr>
          <p:cNvPr id="22" name="Shape 19"/>
          <p:cNvSpPr/>
          <p:nvPr/>
        </p:nvSpPr>
        <p:spPr>
          <a:xfrm>
            <a:off x="365760" y="1737360"/>
            <a:ext cx="64008" cy="2651760"/>
          </a:xfrm>
          <a:prstGeom prst="rect">
            <a:avLst/>
          </a:prstGeom>
          <a:solidFill>
            <a:srgbClr val="6554E8"/>
          </a:solidFill>
          <a:ln w="12700">
            <a:solidFill>
              <a:srgbClr val="6554E8"/>
            </a:solidFill>
            <a:prstDash val="solid"/>
          </a:ln>
        </p:spPr>
      </p:sp>
      <p:sp>
        <p:nvSpPr>
          <p:cNvPr id="23" name="Text 20"/>
          <p:cNvSpPr txBox="1"/>
          <p:nvPr/>
        </p:nvSpPr>
        <p:spPr>
          <a:xfrm>
            <a:off x="502920" y="1783080"/>
            <a:ext cx="251460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Problems Addressed</a:t>
            </a:r>
            <a:endParaRPr lang="en-US" sz="1300" dirty="0"/>
          </a:p>
        </p:txBody>
      </p:sp>
      <p:sp>
        <p:nvSpPr>
          <p:cNvPr id="24" name="Text 21"/>
          <p:cNvSpPr txBox="1"/>
          <p:nvPr/>
        </p:nvSpPr>
        <p:spPr>
          <a:xfrm>
            <a:off x="502920" y="2103120"/>
            <a:ext cx="2514600" cy="224028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 Records spread across sources</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Raw scores hard to interpret</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Weak areas hard to identify</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Guidance needs manual effort</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Reports need structured storage</a:t>
            </a:r>
            <a:endParaRPr lang="en-US" sz="1150" dirty="0"/>
          </a:p>
        </p:txBody>
      </p:sp>
      <p:sp>
        <p:nvSpPr>
          <p:cNvPr id="25" name="Shape 22"/>
          <p:cNvSpPr/>
          <p:nvPr/>
        </p:nvSpPr>
        <p:spPr>
          <a:xfrm>
            <a:off x="3200400" y="1737360"/>
            <a:ext cx="2697480" cy="2651760"/>
          </a:xfrm>
          <a:prstGeom prst="rect">
            <a:avLst/>
          </a:prstGeom>
          <a:solidFill>
            <a:srgbClr val="F0EDFF"/>
          </a:solidFill>
          <a:ln w="12700">
            <a:solidFill>
              <a:srgbClr val="F0EDFF"/>
            </a:solidFill>
            <a:prstDash val="solid"/>
          </a:ln>
        </p:spPr>
      </p:sp>
      <p:sp>
        <p:nvSpPr>
          <p:cNvPr id="26" name="Shape 23"/>
          <p:cNvSpPr/>
          <p:nvPr/>
        </p:nvSpPr>
        <p:spPr>
          <a:xfrm>
            <a:off x="3200400" y="1737360"/>
            <a:ext cx="64008" cy="2651760"/>
          </a:xfrm>
          <a:prstGeom prst="rect">
            <a:avLst/>
          </a:prstGeom>
          <a:solidFill>
            <a:srgbClr val="2B2F66"/>
          </a:solidFill>
          <a:ln w="12700">
            <a:solidFill>
              <a:srgbClr val="2B2F66"/>
            </a:solidFill>
            <a:prstDash val="solid"/>
          </a:ln>
        </p:spPr>
      </p:sp>
      <p:sp>
        <p:nvSpPr>
          <p:cNvPr id="27" name="Text 24"/>
          <p:cNvSpPr txBox="1"/>
          <p:nvPr/>
        </p:nvSpPr>
        <p:spPr>
          <a:xfrm>
            <a:off x="3337560" y="1783080"/>
            <a:ext cx="2514600" cy="292608"/>
          </a:xfrm>
          <a:prstGeom prst="rect">
            <a:avLst/>
          </a:prstGeom>
          <a:noFill/>
          <a:ln/>
        </p:spPr>
        <p:txBody>
          <a:bodyPr wrap="square" lIns="635" tIns="635" rIns="635" bIns="635" rtlCol="0" anchor="ctr"/>
          <a:lstStyle/>
          <a:p>
            <a:pPr indent="0" marL="0">
              <a:buNone/>
            </a:pPr>
            <a:r>
              <a:rPr lang="en-US" sz="1300" b="1" dirty="0">
                <a:solidFill>
                  <a:srgbClr val="2B2F66"/>
                </a:solidFill>
                <a:latin typeface="Calibri" pitchFamily="34" charset="0"/>
                <a:ea typeface="Calibri" pitchFamily="34" charset="-122"/>
                <a:cs typeface="Calibri" pitchFamily="34" charset="-120"/>
              </a:rPr>
              <a:t>Objectives</a:t>
            </a:r>
            <a:endParaRPr lang="en-US" sz="1300" dirty="0"/>
          </a:p>
        </p:txBody>
      </p:sp>
      <p:sp>
        <p:nvSpPr>
          <p:cNvPr id="28" name="Text 25"/>
          <p:cNvSpPr txBox="1"/>
          <p:nvPr/>
        </p:nvSpPr>
        <p:spPr>
          <a:xfrm>
            <a:off x="3337560" y="2103120"/>
            <a:ext cx="2514600" cy="224028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 Analyze performance with ML</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Answer questions via NLP + RAG + LLM</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Generate PDF reports</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Store reports in Amazon S3</a:t>
            </a:r>
            <a:endParaRPr lang="en-US" sz="1150" dirty="0"/>
          </a:p>
        </p:txBody>
      </p:sp>
      <p:sp>
        <p:nvSpPr>
          <p:cNvPr id="29" name="Shape 26"/>
          <p:cNvSpPr/>
          <p:nvPr/>
        </p:nvSpPr>
        <p:spPr>
          <a:xfrm>
            <a:off x="6035040" y="1737360"/>
            <a:ext cx="2743200" cy="2651760"/>
          </a:xfrm>
          <a:prstGeom prst="rect">
            <a:avLst/>
          </a:prstGeom>
          <a:solidFill>
            <a:srgbClr val="F0EDFF"/>
          </a:solidFill>
          <a:ln w="12700">
            <a:solidFill>
              <a:srgbClr val="F0EDFF"/>
            </a:solidFill>
            <a:prstDash val="solid"/>
          </a:ln>
        </p:spPr>
      </p:sp>
      <p:sp>
        <p:nvSpPr>
          <p:cNvPr id="30" name="Shape 27"/>
          <p:cNvSpPr/>
          <p:nvPr/>
        </p:nvSpPr>
        <p:spPr>
          <a:xfrm>
            <a:off x="6035040" y="1737360"/>
            <a:ext cx="64008" cy="2651760"/>
          </a:xfrm>
          <a:prstGeom prst="rect">
            <a:avLst/>
          </a:prstGeom>
          <a:solidFill>
            <a:srgbClr val="15966B"/>
          </a:solidFill>
          <a:ln w="12700">
            <a:solidFill>
              <a:srgbClr val="15966B"/>
            </a:solidFill>
            <a:prstDash val="solid"/>
          </a:ln>
        </p:spPr>
      </p:sp>
      <p:sp>
        <p:nvSpPr>
          <p:cNvPr id="31" name="Text 28"/>
          <p:cNvSpPr txBox="1"/>
          <p:nvPr/>
        </p:nvSpPr>
        <p:spPr>
          <a:xfrm>
            <a:off x="6172200" y="1783080"/>
            <a:ext cx="2560320" cy="292608"/>
          </a:xfrm>
          <a:prstGeom prst="rect">
            <a:avLst/>
          </a:prstGeom>
          <a:noFill/>
          <a:ln/>
        </p:spPr>
        <p:txBody>
          <a:bodyPr wrap="square" lIns="635" tIns="635" rIns="635" bIns="635" rtlCol="0" anchor="ctr"/>
          <a:lstStyle/>
          <a:p>
            <a:pPr indent="0" marL="0">
              <a:buNone/>
            </a:pPr>
            <a:r>
              <a:rPr lang="en-US" sz="1300" b="1" dirty="0">
                <a:solidFill>
                  <a:srgbClr val="15966B"/>
                </a:solidFill>
                <a:latin typeface="Calibri" pitchFamily="34" charset="0"/>
                <a:ea typeface="Calibri" pitchFamily="34" charset="-122"/>
                <a:cs typeface="Calibri" pitchFamily="34" charset="-120"/>
              </a:rPr>
              <a:t>Scope</a:t>
            </a:r>
            <a:endParaRPr lang="en-US" sz="1300" dirty="0"/>
          </a:p>
        </p:txBody>
      </p:sp>
      <p:sp>
        <p:nvSpPr>
          <p:cNvPr id="32" name="Text 29"/>
          <p:cNvSpPr txBox="1"/>
          <p:nvPr/>
        </p:nvSpPr>
        <p:spPr>
          <a:xfrm>
            <a:off x="6172200" y="2103120"/>
            <a:ext cx="2560320" cy="224028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 Sample OULAD records</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Local LLM through Ollama</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S3 integration only; full AWS hosting is future work</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Supports, not replaces, teachers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365760" y="1737360"/>
            <a:ext cx="1371600" cy="914400"/>
          </a:xfrm>
          <a:prstGeom prst="roundRect">
            <a:avLst>
              <a:gd name="adj" fmla="val 8000"/>
            </a:avLst>
          </a:prstGeom>
          <a:solidFill>
            <a:srgbClr val="2B2F66"/>
          </a:solidFill>
          <a:ln w="12700">
            <a:solidFill>
              <a:srgbClr val="2B2F66"/>
            </a:solidFill>
            <a:prstDash val="solid"/>
          </a:ln>
        </p:spPr>
      </p:sp>
      <p:sp>
        <p:nvSpPr>
          <p:cNvPr id="8" name="Text 5"/>
          <p:cNvSpPr txBox="1"/>
          <p:nvPr/>
        </p:nvSpPr>
        <p:spPr>
          <a:xfrm>
            <a:off x="365760" y="1737360"/>
            <a:ext cx="1371600" cy="91440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React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9" name="Shape 6"/>
          <p:cNvSpPr/>
          <p:nvPr/>
        </p:nvSpPr>
        <p:spPr>
          <a:xfrm>
            <a:off x="2240280" y="914400"/>
            <a:ext cx="5074920" cy="2834640"/>
          </a:xfrm>
          <a:prstGeom prst="rect">
            <a:avLst/>
          </a:prstGeom>
          <a:solidFill>
            <a:srgbClr val="F0EDFF"/>
          </a:solidFill>
          <a:ln w="12700">
            <a:solidFill>
              <a:srgbClr val="6554E8"/>
            </a:solidFill>
            <a:prstDash val="solid"/>
          </a:ln>
        </p:spPr>
      </p:sp>
      <p:sp>
        <p:nvSpPr>
          <p:cNvPr id="10" name="Text 7"/>
          <p:cNvSpPr txBox="1"/>
          <p:nvPr/>
        </p:nvSpPr>
        <p:spPr>
          <a:xfrm>
            <a:off x="2286000" y="932688"/>
            <a:ext cx="2743200" cy="274320"/>
          </a:xfrm>
          <a:prstGeom prst="rect">
            <a:avLst/>
          </a:prstGeom>
          <a:noFill/>
          <a:ln/>
        </p:spPr>
        <p:txBody>
          <a:bodyPr wrap="square" lIns="635" tIns="635" rIns="635" bIns="635" rtlCol="0" anchor="ctr"/>
          <a:lstStyle/>
          <a:p>
            <a:pPr indent="0" marL="0">
              <a:buNone/>
            </a:pPr>
            <a:r>
              <a:rPr lang="en-US" sz="1200" b="1" dirty="0">
                <a:solidFill>
                  <a:srgbClr val="6554E8"/>
                </a:solidFill>
                <a:latin typeface="Calibri" pitchFamily="34" charset="0"/>
                <a:ea typeface="Calibri" pitchFamily="34" charset="-122"/>
                <a:cs typeface="Calibri" pitchFamily="34" charset="-120"/>
              </a:rPr>
              <a:t>FastAPI Backend</a:t>
            </a:r>
            <a:endParaRPr lang="en-US" sz="1200" dirty="0"/>
          </a:p>
        </p:txBody>
      </p:sp>
      <p:sp>
        <p:nvSpPr>
          <p:cNvPr id="11" name="Shape 8"/>
          <p:cNvSpPr/>
          <p:nvPr/>
        </p:nvSpPr>
        <p:spPr>
          <a:xfrm>
            <a:off x="2377440" y="1280160"/>
            <a:ext cx="1325880" cy="640080"/>
          </a:xfrm>
          <a:prstGeom prst="roundRect">
            <a:avLst>
              <a:gd name="adj" fmla="val 11429"/>
            </a:avLst>
          </a:prstGeom>
          <a:solidFill>
            <a:srgbClr val="6554E8"/>
          </a:solidFill>
          <a:ln w="12700">
            <a:solidFill>
              <a:srgbClr val="6554E8"/>
            </a:solidFill>
            <a:prstDash val="solid"/>
          </a:ln>
        </p:spPr>
      </p:sp>
      <p:sp>
        <p:nvSpPr>
          <p:cNvPr id="12" name="Text 9"/>
          <p:cNvSpPr txBox="1"/>
          <p:nvPr/>
        </p:nvSpPr>
        <p:spPr>
          <a:xfrm>
            <a:off x="2377440" y="1280160"/>
            <a:ext cx="1325880" cy="64008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Intent Engine</a:t>
            </a:r>
            <a:endParaRPr lang="en-US" sz="1000" dirty="0"/>
          </a:p>
        </p:txBody>
      </p:sp>
      <p:sp>
        <p:nvSpPr>
          <p:cNvPr id="13" name="Text 10"/>
          <p:cNvSpPr txBox="1"/>
          <p:nvPr/>
        </p:nvSpPr>
        <p:spPr>
          <a:xfrm>
            <a:off x="3703320" y="1280160"/>
            <a:ext cx="32004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4" name="Shape 11"/>
          <p:cNvSpPr/>
          <p:nvPr/>
        </p:nvSpPr>
        <p:spPr>
          <a:xfrm>
            <a:off x="4023360" y="1280160"/>
            <a:ext cx="1325880" cy="640080"/>
          </a:xfrm>
          <a:prstGeom prst="roundRect">
            <a:avLst>
              <a:gd name="adj" fmla="val 11429"/>
            </a:avLst>
          </a:prstGeom>
          <a:solidFill>
            <a:srgbClr val="6554E8"/>
          </a:solidFill>
          <a:ln w="12700">
            <a:solidFill>
              <a:srgbClr val="6554E8"/>
            </a:solidFill>
            <a:prstDash val="solid"/>
          </a:ln>
        </p:spPr>
      </p:sp>
      <p:sp>
        <p:nvSpPr>
          <p:cNvPr id="15" name="Text 12"/>
          <p:cNvSpPr txBox="1"/>
          <p:nvPr/>
        </p:nvSpPr>
        <p:spPr>
          <a:xfrm>
            <a:off x="4023360" y="1280160"/>
            <a:ext cx="1325880" cy="64008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Student Intelligence</a:t>
            </a:r>
            <a:endParaRPr lang="en-US" sz="1000" dirty="0"/>
          </a:p>
        </p:txBody>
      </p:sp>
      <p:sp>
        <p:nvSpPr>
          <p:cNvPr id="16" name="Text 13"/>
          <p:cNvSpPr txBox="1"/>
          <p:nvPr/>
        </p:nvSpPr>
        <p:spPr>
          <a:xfrm>
            <a:off x="5349240" y="1280160"/>
            <a:ext cx="32004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7" name="Shape 14"/>
          <p:cNvSpPr/>
          <p:nvPr/>
        </p:nvSpPr>
        <p:spPr>
          <a:xfrm>
            <a:off x="5669280" y="1280160"/>
            <a:ext cx="1325880" cy="640080"/>
          </a:xfrm>
          <a:prstGeom prst="roundRect">
            <a:avLst>
              <a:gd name="adj" fmla="val 11429"/>
            </a:avLst>
          </a:prstGeom>
          <a:solidFill>
            <a:srgbClr val="6554E8"/>
          </a:solidFill>
          <a:ln w="12700">
            <a:solidFill>
              <a:srgbClr val="6554E8"/>
            </a:solidFill>
            <a:prstDash val="solid"/>
          </a:ln>
        </p:spPr>
      </p:sp>
      <p:sp>
        <p:nvSpPr>
          <p:cNvPr id="18" name="Text 15"/>
          <p:cNvSpPr txBox="1"/>
          <p:nvPr/>
        </p:nvSpPr>
        <p:spPr>
          <a:xfrm>
            <a:off x="5669280" y="1280160"/>
            <a:ext cx="1325880" cy="64008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Academic Insights</a:t>
            </a:r>
            <a:endParaRPr lang="en-US" sz="1000" dirty="0"/>
          </a:p>
        </p:txBody>
      </p:sp>
      <p:sp>
        <p:nvSpPr>
          <p:cNvPr id="19" name="Shape 16"/>
          <p:cNvSpPr/>
          <p:nvPr/>
        </p:nvSpPr>
        <p:spPr>
          <a:xfrm>
            <a:off x="2377440" y="2240280"/>
            <a:ext cx="1325880" cy="640080"/>
          </a:xfrm>
          <a:prstGeom prst="roundRect">
            <a:avLst>
              <a:gd name="adj" fmla="val 11429"/>
            </a:avLst>
          </a:prstGeom>
          <a:solidFill>
            <a:srgbClr val="6554E8"/>
          </a:solidFill>
          <a:ln w="12700">
            <a:solidFill>
              <a:srgbClr val="6554E8"/>
            </a:solidFill>
            <a:prstDash val="solid"/>
          </a:ln>
        </p:spPr>
      </p:sp>
      <p:sp>
        <p:nvSpPr>
          <p:cNvPr id="20" name="Text 17"/>
          <p:cNvSpPr txBox="1"/>
          <p:nvPr/>
        </p:nvSpPr>
        <p:spPr>
          <a:xfrm>
            <a:off x="2377440" y="2240280"/>
            <a:ext cx="1325880" cy="64008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RAG Retrieval</a:t>
            </a:r>
            <a:endParaRPr lang="en-US" sz="1000" dirty="0"/>
          </a:p>
        </p:txBody>
      </p:sp>
      <p:sp>
        <p:nvSpPr>
          <p:cNvPr id="21" name="Text 18"/>
          <p:cNvSpPr txBox="1"/>
          <p:nvPr/>
        </p:nvSpPr>
        <p:spPr>
          <a:xfrm>
            <a:off x="3703320" y="2240280"/>
            <a:ext cx="32004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4023360" y="2240280"/>
            <a:ext cx="1325880" cy="640080"/>
          </a:xfrm>
          <a:prstGeom prst="roundRect">
            <a:avLst>
              <a:gd name="adj" fmla="val 11429"/>
            </a:avLst>
          </a:prstGeom>
          <a:solidFill>
            <a:srgbClr val="6554E8"/>
          </a:solidFill>
          <a:ln w="12700">
            <a:solidFill>
              <a:srgbClr val="6554E8"/>
            </a:solidFill>
            <a:prstDash val="solid"/>
          </a:ln>
        </p:spPr>
      </p:sp>
      <p:sp>
        <p:nvSpPr>
          <p:cNvPr id="23" name="Text 20"/>
          <p:cNvSpPr txBox="1"/>
          <p:nvPr/>
        </p:nvSpPr>
        <p:spPr>
          <a:xfrm>
            <a:off x="4023360" y="2240280"/>
            <a:ext cx="1325880" cy="64008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LLM Response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(Ollama)</a:t>
            </a:r>
            <a:endParaRPr lang="en-US" sz="1000" dirty="0"/>
          </a:p>
        </p:txBody>
      </p:sp>
      <p:sp>
        <p:nvSpPr>
          <p:cNvPr id="24" name="Text 21"/>
          <p:cNvSpPr txBox="1"/>
          <p:nvPr/>
        </p:nvSpPr>
        <p:spPr>
          <a:xfrm>
            <a:off x="5349240" y="2240280"/>
            <a:ext cx="32004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25" name="Shape 22"/>
          <p:cNvSpPr/>
          <p:nvPr/>
        </p:nvSpPr>
        <p:spPr>
          <a:xfrm>
            <a:off x="5669280" y="2240280"/>
            <a:ext cx="1325880" cy="640080"/>
          </a:xfrm>
          <a:prstGeom prst="roundRect">
            <a:avLst>
              <a:gd name="adj" fmla="val 11429"/>
            </a:avLst>
          </a:prstGeom>
          <a:solidFill>
            <a:srgbClr val="15966B"/>
          </a:solidFill>
          <a:ln w="12700">
            <a:solidFill>
              <a:srgbClr val="15966B"/>
            </a:solidFill>
            <a:prstDash val="solid"/>
          </a:ln>
        </p:spPr>
      </p:sp>
      <p:sp>
        <p:nvSpPr>
          <p:cNvPr id="26" name="Text 23"/>
          <p:cNvSpPr txBox="1"/>
          <p:nvPr/>
        </p:nvSpPr>
        <p:spPr>
          <a:xfrm>
            <a:off x="5669280" y="2240280"/>
            <a:ext cx="1325880" cy="64008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Report Gen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(ReportLab)</a:t>
            </a:r>
            <a:endParaRPr lang="en-US" sz="1000" dirty="0"/>
          </a:p>
        </p:txBody>
      </p:sp>
      <p:sp>
        <p:nvSpPr>
          <p:cNvPr id="27" name="Text 24"/>
          <p:cNvSpPr txBox="1"/>
          <p:nvPr/>
        </p:nvSpPr>
        <p:spPr>
          <a:xfrm>
            <a:off x="2834640" y="1965960"/>
            <a:ext cx="548640" cy="201168"/>
          </a:xfrm>
          <a:prstGeom prst="rect">
            <a:avLst/>
          </a:prstGeom>
          <a:noFill/>
          <a:ln/>
        </p:spPr>
        <p:txBody>
          <a:bodyPr wrap="square" lIns="0" tIns="0" rIns="0" bIns="0" rtlCol="0" anchor="ctr"/>
          <a:lstStyle/>
          <a:p>
            <a:pPr algn="ctr" indent="0" marL="0">
              <a:buNone/>
            </a:pPr>
            <a:r>
              <a:rPr lang="en-US" sz="1000" dirty="0">
                <a:solidFill>
                  <a:srgbClr val="171936"/>
                </a:solidFill>
                <a:latin typeface="Calibri" pitchFamily="34" charset="0"/>
                <a:ea typeface="Calibri" pitchFamily="34" charset="-122"/>
                <a:cs typeface="Calibri" pitchFamily="34" charset="-120"/>
              </a:rPr>
              <a:t>▼</a:t>
            </a:r>
            <a:endParaRPr lang="en-US" sz="1000" dirty="0"/>
          </a:p>
        </p:txBody>
      </p:sp>
      <p:sp>
        <p:nvSpPr>
          <p:cNvPr id="28" name="Shape 25"/>
          <p:cNvSpPr/>
          <p:nvPr/>
        </p:nvSpPr>
        <p:spPr>
          <a:xfrm>
            <a:off x="2377440" y="3108960"/>
            <a:ext cx="4800600" cy="457200"/>
          </a:xfrm>
          <a:prstGeom prst="roundRect">
            <a:avLst>
              <a:gd name="adj" fmla="val 16000"/>
            </a:avLst>
          </a:prstGeom>
          <a:solidFill>
            <a:srgbClr val="2B2F66"/>
          </a:solidFill>
          <a:ln w="12700">
            <a:solidFill>
              <a:srgbClr val="2B2F66"/>
            </a:solidFill>
            <a:prstDash val="solid"/>
          </a:ln>
        </p:spPr>
      </p:sp>
      <p:sp>
        <p:nvSpPr>
          <p:cNvPr id="29" name="Text 26"/>
          <p:cNvSpPr txBox="1"/>
          <p:nvPr/>
        </p:nvSpPr>
        <p:spPr>
          <a:xfrm>
            <a:off x="2377440" y="3108960"/>
            <a:ext cx="4800600" cy="45720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Student dataset  •  Trained model files</a:t>
            </a:r>
            <a:endParaRPr lang="en-US" sz="1000" dirty="0"/>
          </a:p>
        </p:txBody>
      </p:sp>
      <p:sp>
        <p:nvSpPr>
          <p:cNvPr id="30" name="Shape 27"/>
          <p:cNvSpPr/>
          <p:nvPr/>
        </p:nvSpPr>
        <p:spPr>
          <a:xfrm>
            <a:off x="1737360" y="1920240"/>
            <a:ext cx="502920" cy="0"/>
          </a:xfrm>
          <a:prstGeom prst="line">
            <a:avLst/>
          </a:prstGeom>
          <a:noFill/>
          <a:ln w="22225">
            <a:solidFill>
              <a:srgbClr val="171936"/>
            </a:solidFill>
            <a:prstDash val="solid"/>
            <a:tailEnd type="triangle"/>
          </a:ln>
        </p:spPr>
      </p:sp>
      <p:sp>
        <p:nvSpPr>
          <p:cNvPr id="31" name="Text 28"/>
          <p:cNvSpPr txBox="1"/>
          <p:nvPr/>
        </p:nvSpPr>
        <p:spPr>
          <a:xfrm>
            <a:off x="1691640" y="1627632"/>
            <a:ext cx="640080" cy="228600"/>
          </a:xfrm>
          <a:prstGeom prst="rect">
            <a:avLst/>
          </a:prstGeom>
          <a:noFill/>
          <a:ln/>
        </p:spPr>
        <p:txBody>
          <a:bodyPr wrap="square" lIns="0" tIns="0" rIns="0" bIns="0" rtlCol="0" anchor="ctr"/>
          <a:lstStyle/>
          <a:p>
            <a:pPr algn="ctr" indent="0" marL="0">
              <a:buNone/>
            </a:pPr>
            <a:r>
              <a:rPr lang="en-US" sz="900" dirty="0">
                <a:solidFill>
                  <a:srgbClr val="6554E8"/>
                </a:solidFill>
                <a:latin typeface="Calibri" pitchFamily="34" charset="0"/>
                <a:ea typeface="Calibri" pitchFamily="34" charset="-122"/>
                <a:cs typeface="Calibri" pitchFamily="34" charset="-120"/>
              </a:rPr>
              <a:t>request</a:t>
            </a:r>
            <a:endParaRPr lang="en-US" sz="900" dirty="0"/>
          </a:p>
        </p:txBody>
      </p:sp>
      <p:sp>
        <p:nvSpPr>
          <p:cNvPr id="32" name="Shape 29"/>
          <p:cNvSpPr/>
          <p:nvPr/>
        </p:nvSpPr>
        <p:spPr>
          <a:xfrm flipH="1">
            <a:off x="1737360" y="2468880"/>
            <a:ext cx="502920" cy="0"/>
          </a:xfrm>
          <a:prstGeom prst="line">
            <a:avLst/>
          </a:prstGeom>
          <a:noFill/>
          <a:ln w="22225">
            <a:solidFill>
              <a:srgbClr val="171936"/>
            </a:solidFill>
            <a:prstDash val="solid"/>
            <a:tailEnd type="triangle"/>
          </a:ln>
        </p:spPr>
      </p:sp>
      <p:sp>
        <p:nvSpPr>
          <p:cNvPr id="33" name="Text 30"/>
          <p:cNvSpPr txBox="1"/>
          <p:nvPr/>
        </p:nvSpPr>
        <p:spPr>
          <a:xfrm>
            <a:off x="1691640" y="2487168"/>
            <a:ext cx="640080" cy="228600"/>
          </a:xfrm>
          <a:prstGeom prst="rect">
            <a:avLst/>
          </a:prstGeom>
          <a:noFill/>
          <a:ln/>
        </p:spPr>
        <p:txBody>
          <a:bodyPr wrap="square" lIns="0" tIns="0" rIns="0" bIns="0" rtlCol="0" anchor="ctr"/>
          <a:lstStyle/>
          <a:p>
            <a:pPr algn="ctr" indent="0" marL="0">
              <a:buNone/>
            </a:pPr>
            <a:r>
              <a:rPr lang="en-US" sz="900" dirty="0">
                <a:solidFill>
                  <a:srgbClr val="6554E8"/>
                </a:solidFill>
                <a:latin typeface="Calibri" pitchFamily="34" charset="0"/>
                <a:ea typeface="Calibri" pitchFamily="34" charset="-122"/>
                <a:cs typeface="Calibri" pitchFamily="34" charset="-120"/>
              </a:rPr>
              <a:t>response</a:t>
            </a:r>
            <a:endParaRPr lang="en-US" sz="900" dirty="0"/>
          </a:p>
        </p:txBody>
      </p:sp>
      <p:sp>
        <p:nvSpPr>
          <p:cNvPr id="34" name="Shape 31"/>
          <p:cNvSpPr/>
          <p:nvPr/>
        </p:nvSpPr>
        <p:spPr>
          <a:xfrm>
            <a:off x="7178040" y="2560320"/>
            <a:ext cx="502920" cy="0"/>
          </a:xfrm>
          <a:prstGeom prst="line">
            <a:avLst/>
          </a:prstGeom>
          <a:noFill/>
          <a:ln w="22225">
            <a:solidFill>
              <a:srgbClr val="171936"/>
            </a:solidFill>
            <a:prstDash val="solid"/>
            <a:tailEnd type="triangle"/>
          </a:ln>
        </p:spPr>
      </p:sp>
      <p:sp>
        <p:nvSpPr>
          <p:cNvPr id="35" name="Text 32"/>
          <p:cNvSpPr txBox="1"/>
          <p:nvPr/>
        </p:nvSpPr>
        <p:spPr>
          <a:xfrm>
            <a:off x="7040880" y="2011680"/>
            <a:ext cx="914400" cy="457200"/>
          </a:xfrm>
          <a:prstGeom prst="rect">
            <a:avLst/>
          </a:prstGeom>
          <a:noFill/>
          <a:ln/>
        </p:spPr>
        <p:txBody>
          <a:bodyPr wrap="square" lIns="0" tIns="0" rIns="0" bIns="0" rtlCol="0" anchor="ctr"/>
          <a:lstStyle/>
          <a:p>
            <a:pPr algn="ctr" indent="0" marL="0">
              <a:buNone/>
            </a:pPr>
            <a:r>
              <a:rPr lang="en-US" sz="900" dirty="0">
                <a:solidFill>
                  <a:srgbClr val="15966B"/>
                </a:solidFill>
                <a:latin typeface="Calibri" pitchFamily="34" charset="0"/>
                <a:ea typeface="Calibri" pitchFamily="34" charset="-122"/>
                <a:cs typeface="Calibri" pitchFamily="34" charset="-120"/>
              </a:rPr>
              <a:t>report upload</a:t>
            </a:r>
            <a:endParaRPr lang="en-US" sz="900" dirty="0"/>
          </a:p>
          <a:p>
            <a:pPr algn="ctr" indent="0" marL="0">
              <a:buNone/>
            </a:pPr>
            <a:r>
              <a:rPr lang="en-US" sz="900" dirty="0">
                <a:solidFill>
                  <a:srgbClr val="15966B"/>
                </a:solidFill>
                <a:latin typeface="Calibri" pitchFamily="34" charset="0"/>
                <a:ea typeface="Calibri" pitchFamily="34" charset="-122"/>
                <a:cs typeface="Calibri" pitchFamily="34" charset="-120"/>
              </a:rPr>
              <a:t>(Boto3)</a:t>
            </a:r>
            <a:endParaRPr lang="en-US" sz="900" dirty="0"/>
          </a:p>
        </p:txBody>
      </p:sp>
      <p:sp>
        <p:nvSpPr>
          <p:cNvPr id="36" name="Shape 33"/>
          <p:cNvSpPr/>
          <p:nvPr/>
        </p:nvSpPr>
        <p:spPr>
          <a:xfrm>
            <a:off x="7680960" y="2103120"/>
            <a:ext cx="1097280" cy="914400"/>
          </a:xfrm>
          <a:prstGeom prst="roundRect">
            <a:avLst>
              <a:gd name="adj" fmla="val 8000"/>
            </a:avLst>
          </a:prstGeom>
          <a:solidFill>
            <a:srgbClr val="15966B"/>
          </a:solidFill>
          <a:ln w="12700">
            <a:solidFill>
              <a:srgbClr val="15966B"/>
            </a:solidFill>
            <a:prstDash val="solid"/>
          </a:ln>
        </p:spPr>
      </p:sp>
      <p:sp>
        <p:nvSpPr>
          <p:cNvPr id="37" name="Text 34"/>
          <p:cNvSpPr txBox="1"/>
          <p:nvPr/>
        </p:nvSpPr>
        <p:spPr>
          <a:xfrm>
            <a:off x="7680960" y="2103120"/>
            <a:ext cx="1097280" cy="914400"/>
          </a:xfrm>
          <a:prstGeom prst="rect">
            <a:avLst/>
          </a:prstGeom>
          <a:no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Amazon S3</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private bucket</a:t>
            </a:r>
            <a:endParaRPr lang="en-US" sz="1000" dirty="0"/>
          </a:p>
        </p:txBody>
      </p:sp>
      <p:pic>
        <p:nvPicPr>
          <p:cNvPr id="38" name="Image 0" descr="preencoded.png">    </p:cNvPr>
          <p:cNvPicPr>
            <a:picLocks noChangeAspect="1"/>
          </p:cNvPicPr>
          <p:nvPr/>
        </p:nvPicPr>
        <p:blipFill>
          <a:blip r:embed="rId1"/>
          <a:stretch>
            <a:fillRect/>
          </a:stretch>
        </p:blipFill>
        <p:spPr>
          <a:xfrm>
            <a:off x="8046720" y="3063240"/>
            <a:ext cx="365760" cy="365760"/>
          </a:xfrm>
          <a:prstGeom prst="rect">
            <a:avLst/>
          </a:prstGeom>
        </p:spPr>
      </p:pic>
      <p:sp>
        <p:nvSpPr>
          <p:cNvPr id="39" name="Text 35"/>
          <p:cNvSpPr txBox="1"/>
          <p:nvPr/>
        </p:nvSpPr>
        <p:spPr>
          <a:xfrm>
            <a:off x="365760" y="3977640"/>
            <a:ext cx="8412480" cy="365760"/>
          </a:xfrm>
          <a:prstGeom prst="rect">
            <a:avLst/>
          </a:prstGeom>
          <a:noFill/>
          <a:ln/>
        </p:spPr>
        <p:txBody>
          <a:bodyPr wrap="square" lIns="635" tIns="635" rIns="635" bIns="635" rtlCol="0" anchor="ctr"/>
          <a:lstStyle/>
          <a:p>
            <a:pPr algn="ctr" indent="0" marL="0">
              <a:buNone/>
            </a:pPr>
            <a:r>
              <a:rPr lang="en-US" sz="1200" i="1" dirty="0">
                <a:solidFill>
                  <a:srgbClr val="6E7490"/>
                </a:solidFill>
                <a:latin typeface="Calibri" pitchFamily="34" charset="0"/>
                <a:ea typeface="Calibri" pitchFamily="34" charset="-122"/>
                <a:cs typeface="Calibri" pitchFamily="34" charset="-120"/>
              </a:rPr>
              <a:t>Conceptual AI pipeline: actual execution varies by question type. Only report storage uses AWS.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Dataset &amp; Academic Data Processing</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365760" y="960120"/>
            <a:ext cx="4114800" cy="3383280"/>
          </a:xfrm>
          <a:prstGeom prst="rect">
            <a:avLst/>
          </a:prstGeom>
          <a:solidFill>
            <a:srgbClr val="F0EDFF"/>
          </a:solidFill>
          <a:ln w="12700">
            <a:solidFill>
              <a:srgbClr val="F0EDFF"/>
            </a:solidFill>
            <a:prstDash val="solid"/>
          </a:ln>
        </p:spPr>
      </p:sp>
      <p:sp>
        <p:nvSpPr>
          <p:cNvPr id="8" name="Shape 5"/>
          <p:cNvSpPr/>
          <p:nvPr/>
        </p:nvSpPr>
        <p:spPr>
          <a:xfrm>
            <a:off x="365760" y="960120"/>
            <a:ext cx="64008" cy="3383280"/>
          </a:xfrm>
          <a:prstGeom prst="rect">
            <a:avLst/>
          </a:prstGeom>
          <a:solidFill>
            <a:srgbClr val="6554E8"/>
          </a:solidFill>
          <a:ln w="12700">
            <a:solidFill>
              <a:srgbClr val="6554E8"/>
            </a:solidFill>
            <a:prstDash val="solid"/>
          </a:ln>
        </p:spPr>
      </p:sp>
      <p:sp>
        <p:nvSpPr>
          <p:cNvPr id="9" name="Text 6"/>
          <p:cNvSpPr txBox="1"/>
          <p:nvPr/>
        </p:nvSpPr>
        <p:spPr>
          <a:xfrm>
            <a:off x="502920" y="1005840"/>
            <a:ext cx="393192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OULAD</a:t>
            </a:r>
            <a:endParaRPr lang="en-US" sz="1300" dirty="0"/>
          </a:p>
        </p:txBody>
      </p:sp>
      <p:sp>
        <p:nvSpPr>
          <p:cNvPr id="10" name="Text 7"/>
          <p:cNvSpPr txBox="1"/>
          <p:nvPr/>
        </p:nvSpPr>
        <p:spPr>
          <a:xfrm>
            <a:off x="502920" y="1325880"/>
            <a:ext cx="3931920" cy="2971800"/>
          </a:xfrm>
          <a:prstGeom prst="rect">
            <a:avLst/>
          </a:prstGeom>
          <a:noFill/>
          <a:ln/>
        </p:spPr>
        <p:txBody>
          <a:bodyPr wrap="square" lIns="635" tIns="635" rIns="635" bIns="635" rtlCol="0" anchor="t"/>
          <a:lstStyle/>
          <a:p>
            <a:pPr indent="0" marL="0">
              <a:buNone/>
            </a:pPr>
            <a:r>
              <a:rPr lang="en-US" sz="1200" dirty="0">
                <a:solidFill>
                  <a:srgbClr val="171936"/>
                </a:solidFill>
                <a:latin typeface="Calibri" pitchFamily="34" charset="0"/>
                <a:ea typeface="Calibri" pitchFamily="34" charset="-122"/>
                <a:cs typeface="Calibri" pitchFamily="34" charset="-120"/>
              </a:rPr>
              <a:t>• Open University Learning Analytics Dataset</a:t>
            </a:r>
            <a:endParaRPr lang="en-US" sz="1200" dirty="0"/>
          </a:p>
          <a:p>
            <a:pPr indent="0" marL="0">
              <a:buNone/>
            </a:pPr>
            <a:r>
              <a:rPr lang="en-US" sz="1200" dirty="0">
                <a:solidFill>
                  <a:srgbClr val="171936"/>
                </a:solidFill>
                <a:latin typeface="Calibri" pitchFamily="34" charset="0"/>
                <a:ea typeface="Calibri" pitchFamily="34" charset="-122"/>
                <a:cs typeface="Calibri" pitchFamily="34" charset="-120"/>
              </a:rPr>
              <a:t>• Student identifiers and assessment records</a:t>
            </a:r>
            <a:endParaRPr lang="en-US" sz="1200" dirty="0"/>
          </a:p>
          <a:p>
            <a:pPr indent="0" marL="0">
              <a:buNone/>
            </a:pPr>
            <a:r>
              <a:rPr lang="en-US" sz="1200" dirty="0">
                <a:solidFill>
                  <a:srgbClr val="171936"/>
                </a:solidFill>
                <a:latin typeface="Calibri" pitchFamily="34" charset="0"/>
                <a:ea typeface="Calibri" pitchFamily="34" charset="-122"/>
                <a:cs typeface="Calibri" pitchFamily="34" charset="-120"/>
              </a:rPr>
              <a:t>• Learning activity (VLE) records</a:t>
            </a:r>
            <a:endParaRPr lang="en-US" sz="1200" dirty="0"/>
          </a:p>
          <a:p>
            <a:pPr indent="0" marL="0">
              <a:buNone/>
            </a:pPr>
            <a:r>
              <a:rPr lang="en-US" sz="1200" dirty="0">
                <a:solidFill>
                  <a:srgbClr val="171936"/>
                </a:solidFill>
                <a:latin typeface="Calibri" pitchFamily="34" charset="0"/>
                <a:ea typeface="Calibri" pitchFamily="34" charset="-122"/>
                <a:cs typeface="Calibri" pitchFamily="34" charset="-120"/>
              </a:rPr>
              <a:t>• Prepared training table: about 21,444 rows × 30 columns (to be verified)</a:t>
            </a:r>
            <a:endParaRPr lang="en-US" sz="1200" dirty="0"/>
          </a:p>
          <a:p>
            <a:pPr indent="0" marL="0">
              <a:buNone/>
            </a:pPr>
            <a:r>
              <a:rPr lang="en-US" sz="1200" dirty="0">
                <a:solidFill>
                  <a:srgbClr val="171936"/>
                </a:solidFill>
                <a:latin typeface="Calibri" pitchFamily="34" charset="0"/>
                <a:ea typeface="Calibri" pitchFamily="34" charset="-122"/>
                <a:cs typeface="Calibri" pitchFamily="34" charset="-120"/>
              </a:rPr>
              <a:t>• Student 11391 = sample dataset record</a:t>
            </a:r>
            <a:endParaRPr lang="en-US" sz="1200" dirty="0"/>
          </a:p>
        </p:txBody>
      </p:sp>
      <p:sp>
        <p:nvSpPr>
          <p:cNvPr id="11" name="Shape 8"/>
          <p:cNvSpPr/>
          <p:nvPr/>
        </p:nvSpPr>
        <p:spPr>
          <a:xfrm>
            <a:off x="4846320" y="914400"/>
            <a:ext cx="3931920" cy="502920"/>
          </a:xfrm>
          <a:prstGeom prst="roundRect">
            <a:avLst>
              <a:gd name="adj" fmla="val 14545"/>
            </a:avLst>
          </a:prstGeom>
          <a:solidFill>
            <a:srgbClr val="171936"/>
          </a:solidFill>
          <a:ln w="12700">
            <a:solidFill>
              <a:srgbClr val="171936"/>
            </a:solidFill>
            <a:prstDash val="solid"/>
          </a:ln>
        </p:spPr>
      </p:sp>
      <p:sp>
        <p:nvSpPr>
          <p:cNvPr id="12" name="Text 9"/>
          <p:cNvSpPr txBox="1"/>
          <p:nvPr/>
        </p:nvSpPr>
        <p:spPr>
          <a:xfrm>
            <a:off x="4846320" y="914400"/>
            <a:ext cx="3931920" cy="50292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Raw OULAD tables</a:t>
            </a:r>
            <a:endParaRPr lang="en-US" sz="1200" dirty="0"/>
          </a:p>
        </p:txBody>
      </p:sp>
      <p:sp>
        <p:nvSpPr>
          <p:cNvPr id="13" name="Text 10"/>
          <p:cNvSpPr txBox="1"/>
          <p:nvPr/>
        </p:nvSpPr>
        <p:spPr>
          <a:xfrm>
            <a:off x="4846320" y="1417320"/>
            <a:ext cx="3931920" cy="201168"/>
          </a:xfrm>
          <a:prstGeom prst="rect">
            <a:avLst/>
          </a:prstGeom>
          <a:noFill/>
          <a:ln/>
        </p:spPr>
        <p:txBody>
          <a:bodyPr wrap="square" lIns="0" tIns="0" rIns="0" bIns="0" rtlCol="0" anchor="ctr"/>
          <a:lstStyle/>
          <a:p>
            <a:pPr algn="ctr" indent="0" marL="0">
              <a:buNone/>
            </a:pPr>
            <a:r>
              <a:rPr lang="en-US" sz="1000" dirty="0">
                <a:solidFill>
                  <a:srgbClr val="171936"/>
                </a:solidFill>
                <a:latin typeface="Calibri" pitchFamily="34" charset="0"/>
                <a:ea typeface="Calibri" pitchFamily="34" charset="-122"/>
                <a:cs typeface="Calibri" pitchFamily="34" charset="-120"/>
              </a:rPr>
              <a:t>▼</a:t>
            </a:r>
            <a:endParaRPr lang="en-US" sz="1000" dirty="0"/>
          </a:p>
        </p:txBody>
      </p:sp>
      <p:sp>
        <p:nvSpPr>
          <p:cNvPr id="14" name="Shape 11"/>
          <p:cNvSpPr/>
          <p:nvPr/>
        </p:nvSpPr>
        <p:spPr>
          <a:xfrm>
            <a:off x="4846320" y="1627632"/>
            <a:ext cx="3931920" cy="502920"/>
          </a:xfrm>
          <a:prstGeom prst="roundRect">
            <a:avLst>
              <a:gd name="adj" fmla="val 14545"/>
            </a:avLst>
          </a:prstGeom>
          <a:solidFill>
            <a:srgbClr val="6554E8"/>
          </a:solidFill>
          <a:ln w="12700">
            <a:solidFill>
              <a:srgbClr val="6554E8"/>
            </a:solidFill>
            <a:prstDash val="solid"/>
          </a:ln>
        </p:spPr>
      </p:sp>
      <p:sp>
        <p:nvSpPr>
          <p:cNvPr id="15" name="Text 12"/>
          <p:cNvSpPr txBox="1"/>
          <p:nvPr/>
        </p:nvSpPr>
        <p:spPr>
          <a:xfrm>
            <a:off x="4846320" y="1627632"/>
            <a:ext cx="3931920" cy="50292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Cleaning &amp; aggregation</a:t>
            </a:r>
            <a:endParaRPr lang="en-US" sz="1200" dirty="0"/>
          </a:p>
        </p:txBody>
      </p:sp>
      <p:sp>
        <p:nvSpPr>
          <p:cNvPr id="16" name="Text 13"/>
          <p:cNvSpPr txBox="1"/>
          <p:nvPr/>
        </p:nvSpPr>
        <p:spPr>
          <a:xfrm>
            <a:off x="4846320" y="2130552"/>
            <a:ext cx="3931920" cy="201168"/>
          </a:xfrm>
          <a:prstGeom prst="rect">
            <a:avLst/>
          </a:prstGeom>
          <a:noFill/>
          <a:ln/>
        </p:spPr>
        <p:txBody>
          <a:bodyPr wrap="square" lIns="0" tIns="0" rIns="0" bIns="0" rtlCol="0" anchor="ctr"/>
          <a:lstStyle/>
          <a:p>
            <a:pPr algn="ctr" indent="0" marL="0">
              <a:buNone/>
            </a:pPr>
            <a:r>
              <a:rPr lang="en-US" sz="1000" dirty="0">
                <a:solidFill>
                  <a:srgbClr val="171936"/>
                </a:solidFill>
                <a:latin typeface="Calibri" pitchFamily="34" charset="0"/>
                <a:ea typeface="Calibri" pitchFamily="34" charset="-122"/>
                <a:cs typeface="Calibri" pitchFamily="34" charset="-120"/>
              </a:rPr>
              <a:t>▼</a:t>
            </a:r>
            <a:endParaRPr lang="en-US" sz="1000" dirty="0"/>
          </a:p>
        </p:txBody>
      </p:sp>
      <p:sp>
        <p:nvSpPr>
          <p:cNvPr id="17" name="Shape 14"/>
          <p:cNvSpPr/>
          <p:nvPr/>
        </p:nvSpPr>
        <p:spPr>
          <a:xfrm>
            <a:off x="4846320" y="2340864"/>
            <a:ext cx="3931920" cy="502920"/>
          </a:xfrm>
          <a:prstGeom prst="roundRect">
            <a:avLst>
              <a:gd name="adj" fmla="val 14545"/>
            </a:avLst>
          </a:prstGeom>
          <a:solidFill>
            <a:srgbClr val="6554E8"/>
          </a:solidFill>
          <a:ln w="12700">
            <a:solidFill>
              <a:srgbClr val="6554E8"/>
            </a:solidFill>
            <a:prstDash val="solid"/>
          </a:ln>
        </p:spPr>
      </p:sp>
      <p:sp>
        <p:nvSpPr>
          <p:cNvPr id="18" name="Text 15"/>
          <p:cNvSpPr txBox="1"/>
          <p:nvPr/>
        </p:nvSpPr>
        <p:spPr>
          <a:xfrm>
            <a:off x="4846320" y="2340864"/>
            <a:ext cx="3931920" cy="50292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 handling</a:t>
            </a:r>
            <a:endParaRPr lang="en-US" sz="1200" dirty="0"/>
          </a:p>
        </p:txBody>
      </p:sp>
      <p:sp>
        <p:nvSpPr>
          <p:cNvPr id="19" name="Text 16"/>
          <p:cNvSpPr txBox="1"/>
          <p:nvPr/>
        </p:nvSpPr>
        <p:spPr>
          <a:xfrm>
            <a:off x="4846320" y="2843784"/>
            <a:ext cx="3931920" cy="201168"/>
          </a:xfrm>
          <a:prstGeom prst="rect">
            <a:avLst/>
          </a:prstGeom>
          <a:noFill/>
          <a:ln/>
        </p:spPr>
        <p:txBody>
          <a:bodyPr wrap="square" lIns="0" tIns="0" rIns="0" bIns="0" rtlCol="0" anchor="ctr"/>
          <a:lstStyle/>
          <a:p>
            <a:pPr algn="ctr" indent="0" marL="0">
              <a:buNone/>
            </a:pPr>
            <a:r>
              <a:rPr lang="en-US" sz="1000" dirty="0">
                <a:solidFill>
                  <a:srgbClr val="171936"/>
                </a:solidFill>
                <a:latin typeface="Calibri" pitchFamily="34" charset="0"/>
                <a:ea typeface="Calibri" pitchFamily="34" charset="-122"/>
                <a:cs typeface="Calibri" pitchFamily="34" charset="-120"/>
              </a:rPr>
              <a:t>▼</a:t>
            </a:r>
            <a:endParaRPr lang="en-US" sz="1000" dirty="0"/>
          </a:p>
        </p:txBody>
      </p:sp>
      <p:sp>
        <p:nvSpPr>
          <p:cNvPr id="20" name="Shape 17"/>
          <p:cNvSpPr/>
          <p:nvPr/>
        </p:nvSpPr>
        <p:spPr>
          <a:xfrm>
            <a:off x="4846320" y="3054096"/>
            <a:ext cx="3931920" cy="502920"/>
          </a:xfrm>
          <a:prstGeom prst="roundRect">
            <a:avLst>
              <a:gd name="adj" fmla="val 14545"/>
            </a:avLst>
          </a:prstGeom>
          <a:solidFill>
            <a:srgbClr val="2B2F66"/>
          </a:solidFill>
          <a:ln w="12700">
            <a:solidFill>
              <a:srgbClr val="2B2F66"/>
            </a:solidFill>
            <a:prstDash val="solid"/>
          </a:ln>
        </p:spPr>
      </p:sp>
      <p:sp>
        <p:nvSpPr>
          <p:cNvPr id="21" name="Text 18"/>
          <p:cNvSpPr txBox="1"/>
          <p:nvPr/>
        </p:nvSpPr>
        <p:spPr>
          <a:xfrm>
            <a:off x="4846320" y="3054096"/>
            <a:ext cx="3931920" cy="50292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Prepared training dataset</a:t>
            </a:r>
            <a:endParaRPr lang="en-US" sz="1200" dirty="0"/>
          </a:p>
        </p:txBody>
      </p:sp>
      <p:sp>
        <p:nvSpPr>
          <p:cNvPr id="22" name="Text 19"/>
          <p:cNvSpPr txBox="1"/>
          <p:nvPr/>
        </p:nvSpPr>
        <p:spPr>
          <a:xfrm>
            <a:off x="4846320" y="3557016"/>
            <a:ext cx="3931920" cy="201168"/>
          </a:xfrm>
          <a:prstGeom prst="rect">
            <a:avLst/>
          </a:prstGeom>
          <a:noFill/>
          <a:ln/>
        </p:spPr>
        <p:txBody>
          <a:bodyPr wrap="square" lIns="0" tIns="0" rIns="0" bIns="0" rtlCol="0" anchor="ctr"/>
          <a:lstStyle/>
          <a:p>
            <a:pPr algn="ctr" indent="0" marL="0">
              <a:buNone/>
            </a:pPr>
            <a:r>
              <a:rPr lang="en-US" sz="1000" dirty="0">
                <a:solidFill>
                  <a:srgbClr val="171936"/>
                </a:solidFill>
                <a:latin typeface="Calibri" pitchFamily="34" charset="0"/>
                <a:ea typeface="Calibri" pitchFamily="34" charset="-122"/>
                <a:cs typeface="Calibri" pitchFamily="34" charset="-120"/>
              </a:rPr>
              <a:t>▼</a:t>
            </a:r>
            <a:endParaRPr lang="en-US" sz="1000" dirty="0"/>
          </a:p>
        </p:txBody>
      </p:sp>
      <p:sp>
        <p:nvSpPr>
          <p:cNvPr id="23" name="Shape 20"/>
          <p:cNvSpPr/>
          <p:nvPr/>
        </p:nvSpPr>
        <p:spPr>
          <a:xfrm>
            <a:off x="4846320" y="3767328"/>
            <a:ext cx="3931920" cy="502920"/>
          </a:xfrm>
          <a:prstGeom prst="roundRect">
            <a:avLst>
              <a:gd name="adj" fmla="val 14545"/>
            </a:avLst>
          </a:prstGeom>
          <a:solidFill>
            <a:srgbClr val="15966B"/>
          </a:solidFill>
          <a:ln w="12700">
            <a:solidFill>
              <a:srgbClr val="15966B"/>
            </a:solidFill>
            <a:prstDash val="solid"/>
          </a:ln>
        </p:spPr>
      </p:sp>
      <p:sp>
        <p:nvSpPr>
          <p:cNvPr id="24" name="Text 21"/>
          <p:cNvSpPr txBox="1"/>
          <p:nvPr/>
        </p:nvSpPr>
        <p:spPr>
          <a:xfrm>
            <a:off x="4846320" y="3767328"/>
            <a:ext cx="3931920" cy="50292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Models &amp; academic insights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Machine Learning Models: Prediction &amp; Risk</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365760" y="914400"/>
            <a:ext cx="4114800" cy="1371600"/>
          </a:xfrm>
          <a:prstGeom prst="rect">
            <a:avLst/>
          </a:prstGeom>
          <a:solidFill>
            <a:srgbClr val="F0EDFF"/>
          </a:solidFill>
          <a:ln w="12700">
            <a:solidFill>
              <a:srgbClr val="F0EDFF"/>
            </a:solidFill>
            <a:prstDash val="solid"/>
          </a:ln>
        </p:spPr>
      </p:sp>
      <p:sp>
        <p:nvSpPr>
          <p:cNvPr id="8" name="Shape 5"/>
          <p:cNvSpPr/>
          <p:nvPr/>
        </p:nvSpPr>
        <p:spPr>
          <a:xfrm>
            <a:off x="365760" y="914400"/>
            <a:ext cx="64008" cy="1371600"/>
          </a:xfrm>
          <a:prstGeom prst="rect">
            <a:avLst/>
          </a:prstGeom>
          <a:solidFill>
            <a:srgbClr val="6554E8"/>
          </a:solidFill>
          <a:ln w="12700">
            <a:solidFill>
              <a:srgbClr val="6554E8"/>
            </a:solidFill>
            <a:prstDash val="solid"/>
          </a:ln>
        </p:spPr>
      </p:sp>
      <p:sp>
        <p:nvSpPr>
          <p:cNvPr id="9" name="Text 6"/>
          <p:cNvSpPr txBox="1"/>
          <p:nvPr/>
        </p:nvSpPr>
        <p:spPr>
          <a:xfrm>
            <a:off x="502920" y="960120"/>
            <a:ext cx="393192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Gradient Boosting Regressor</a:t>
            </a:r>
            <a:endParaRPr lang="en-US" sz="1300" dirty="0"/>
          </a:p>
        </p:txBody>
      </p:sp>
      <p:sp>
        <p:nvSpPr>
          <p:cNvPr id="10" name="Text 7"/>
          <p:cNvSpPr txBox="1"/>
          <p:nvPr/>
        </p:nvSpPr>
        <p:spPr>
          <a:xfrm>
            <a:off x="502920" y="1280160"/>
            <a:ext cx="3931920" cy="96012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Supervised regression: features → predicted performance. Trees are added one by one, each fixing earlier errors.</a:t>
            </a:r>
            <a:endParaRPr lang="en-US" sz="1150" dirty="0"/>
          </a:p>
        </p:txBody>
      </p:sp>
      <p:sp>
        <p:nvSpPr>
          <p:cNvPr id="11" name="Shape 8"/>
          <p:cNvSpPr/>
          <p:nvPr/>
        </p:nvSpPr>
        <p:spPr>
          <a:xfrm>
            <a:off x="365760" y="2514600"/>
            <a:ext cx="914400" cy="548640"/>
          </a:xfrm>
          <a:prstGeom prst="roundRect">
            <a:avLst>
              <a:gd name="adj" fmla="val 13333"/>
            </a:avLst>
          </a:prstGeom>
          <a:solidFill>
            <a:srgbClr val="6554E8"/>
          </a:solidFill>
          <a:ln w="12700">
            <a:solidFill>
              <a:srgbClr val="6554E8"/>
            </a:solidFill>
            <a:prstDash val="solid"/>
          </a:ln>
        </p:spPr>
      </p:sp>
      <p:sp>
        <p:nvSpPr>
          <p:cNvPr id="12" name="Text 9"/>
          <p:cNvSpPr txBox="1"/>
          <p:nvPr/>
        </p:nvSpPr>
        <p:spPr>
          <a:xfrm>
            <a:off x="365760" y="2514600"/>
            <a:ext cx="91440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Tree 1</a:t>
            </a:r>
            <a:endParaRPr lang="en-US" sz="1100" dirty="0"/>
          </a:p>
        </p:txBody>
      </p:sp>
      <p:sp>
        <p:nvSpPr>
          <p:cNvPr id="13" name="Shape 10"/>
          <p:cNvSpPr/>
          <p:nvPr/>
        </p:nvSpPr>
        <p:spPr>
          <a:xfrm>
            <a:off x="1371600" y="2514600"/>
            <a:ext cx="914400" cy="548640"/>
          </a:xfrm>
          <a:prstGeom prst="roundRect">
            <a:avLst>
              <a:gd name="adj" fmla="val 13333"/>
            </a:avLst>
          </a:prstGeom>
          <a:solidFill>
            <a:srgbClr val="6554E8"/>
          </a:solidFill>
          <a:ln w="12700">
            <a:solidFill>
              <a:srgbClr val="6554E8"/>
            </a:solidFill>
            <a:prstDash val="solid"/>
          </a:ln>
        </p:spPr>
      </p:sp>
      <p:sp>
        <p:nvSpPr>
          <p:cNvPr id="14" name="Text 11"/>
          <p:cNvSpPr txBox="1"/>
          <p:nvPr/>
        </p:nvSpPr>
        <p:spPr>
          <a:xfrm>
            <a:off x="1371600" y="2514600"/>
            <a:ext cx="91440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Tree 2</a:t>
            </a:r>
            <a:endParaRPr lang="en-US" sz="1100" dirty="0"/>
          </a:p>
        </p:txBody>
      </p:sp>
      <p:sp>
        <p:nvSpPr>
          <p:cNvPr id="15" name="Shape 12"/>
          <p:cNvSpPr/>
          <p:nvPr/>
        </p:nvSpPr>
        <p:spPr>
          <a:xfrm>
            <a:off x="2377440" y="2514600"/>
            <a:ext cx="914400" cy="548640"/>
          </a:xfrm>
          <a:prstGeom prst="roundRect">
            <a:avLst>
              <a:gd name="adj" fmla="val 13333"/>
            </a:avLst>
          </a:prstGeom>
          <a:solidFill>
            <a:srgbClr val="6554E8"/>
          </a:solidFill>
          <a:ln w="12700">
            <a:solidFill>
              <a:srgbClr val="6554E8"/>
            </a:solidFill>
            <a:prstDash val="solid"/>
          </a:ln>
        </p:spPr>
      </p:sp>
      <p:sp>
        <p:nvSpPr>
          <p:cNvPr id="16" name="Text 13"/>
          <p:cNvSpPr txBox="1"/>
          <p:nvPr/>
        </p:nvSpPr>
        <p:spPr>
          <a:xfrm>
            <a:off x="2377440" y="2514600"/>
            <a:ext cx="91440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Tree 3</a:t>
            </a:r>
            <a:endParaRPr lang="en-US" sz="1100" dirty="0"/>
          </a:p>
        </p:txBody>
      </p:sp>
      <p:sp>
        <p:nvSpPr>
          <p:cNvPr id="17" name="Text 14"/>
          <p:cNvSpPr txBox="1"/>
          <p:nvPr/>
        </p:nvSpPr>
        <p:spPr>
          <a:xfrm>
            <a:off x="3383280" y="2514600"/>
            <a:ext cx="274320" cy="5486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8" name="Shape 15"/>
          <p:cNvSpPr/>
          <p:nvPr/>
        </p:nvSpPr>
        <p:spPr>
          <a:xfrm>
            <a:off x="3657600" y="2514600"/>
            <a:ext cx="868680" cy="548640"/>
          </a:xfrm>
          <a:prstGeom prst="roundRect">
            <a:avLst>
              <a:gd name="adj" fmla="val 13333"/>
            </a:avLst>
          </a:prstGeom>
          <a:solidFill>
            <a:srgbClr val="15966B"/>
          </a:solidFill>
          <a:ln w="12700">
            <a:solidFill>
              <a:srgbClr val="15966B"/>
            </a:solidFill>
            <a:prstDash val="solid"/>
          </a:ln>
        </p:spPr>
      </p:sp>
      <p:sp>
        <p:nvSpPr>
          <p:cNvPr id="19" name="Text 16"/>
          <p:cNvSpPr txBox="1"/>
          <p:nvPr/>
        </p:nvSpPr>
        <p:spPr>
          <a:xfrm>
            <a:off x="3657600" y="2514600"/>
            <a:ext cx="868680" cy="548640"/>
          </a:xfrm>
          <a:prstGeom prst="rect">
            <a:avLst/>
          </a:prstGeom>
          <a:noFill/>
          <a:ln/>
        </p:spPr>
        <p:txBody>
          <a:bodyPr wrap="square" lIns="635" tIns="635" rIns="635" bIns="635"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Predicted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performance</a:t>
            </a:r>
            <a:endParaRPr lang="en-US" sz="950" dirty="0"/>
          </a:p>
        </p:txBody>
      </p:sp>
      <p:sp>
        <p:nvSpPr>
          <p:cNvPr id="20" name="Shape 17"/>
          <p:cNvSpPr/>
          <p:nvPr/>
        </p:nvSpPr>
        <p:spPr>
          <a:xfrm>
            <a:off x="4663440" y="914400"/>
            <a:ext cx="4114800" cy="1371600"/>
          </a:xfrm>
          <a:prstGeom prst="rect">
            <a:avLst/>
          </a:prstGeom>
          <a:solidFill>
            <a:srgbClr val="F0EDFF"/>
          </a:solidFill>
          <a:ln w="12700">
            <a:solidFill>
              <a:srgbClr val="F0EDFF"/>
            </a:solidFill>
            <a:prstDash val="solid"/>
          </a:ln>
        </p:spPr>
      </p:sp>
      <p:sp>
        <p:nvSpPr>
          <p:cNvPr id="21" name="Shape 18"/>
          <p:cNvSpPr/>
          <p:nvPr/>
        </p:nvSpPr>
        <p:spPr>
          <a:xfrm>
            <a:off x="4663440" y="914400"/>
            <a:ext cx="64008" cy="1371600"/>
          </a:xfrm>
          <a:prstGeom prst="rect">
            <a:avLst/>
          </a:prstGeom>
          <a:solidFill>
            <a:srgbClr val="2B2F66"/>
          </a:solidFill>
          <a:ln w="12700">
            <a:solidFill>
              <a:srgbClr val="2B2F66"/>
            </a:solidFill>
            <a:prstDash val="solid"/>
          </a:ln>
        </p:spPr>
      </p:sp>
      <p:sp>
        <p:nvSpPr>
          <p:cNvPr id="22" name="Text 19"/>
          <p:cNvSpPr txBox="1"/>
          <p:nvPr/>
        </p:nvSpPr>
        <p:spPr>
          <a:xfrm>
            <a:off x="4800600" y="960120"/>
            <a:ext cx="3931920" cy="292608"/>
          </a:xfrm>
          <a:prstGeom prst="rect">
            <a:avLst/>
          </a:prstGeom>
          <a:noFill/>
          <a:ln/>
        </p:spPr>
        <p:txBody>
          <a:bodyPr wrap="square" lIns="635" tIns="635" rIns="635" bIns="635" rtlCol="0" anchor="ctr"/>
          <a:lstStyle/>
          <a:p>
            <a:pPr indent="0" marL="0">
              <a:buNone/>
            </a:pPr>
            <a:r>
              <a:rPr lang="en-US" sz="1300" b="1" dirty="0">
                <a:solidFill>
                  <a:srgbClr val="2B2F66"/>
                </a:solidFill>
                <a:latin typeface="Calibri" pitchFamily="34" charset="0"/>
                <a:ea typeface="Calibri" pitchFamily="34" charset="-122"/>
                <a:cs typeface="Calibri" pitchFamily="34" charset="-120"/>
              </a:rPr>
              <a:t>Random Forest Classifier</a:t>
            </a:r>
            <a:endParaRPr lang="en-US" sz="1300" dirty="0"/>
          </a:p>
        </p:txBody>
      </p:sp>
      <p:sp>
        <p:nvSpPr>
          <p:cNvPr id="23" name="Text 20"/>
          <p:cNvSpPr txBox="1"/>
          <p:nvPr/>
        </p:nvSpPr>
        <p:spPr>
          <a:xfrm>
            <a:off x="4800600" y="1280160"/>
            <a:ext cx="3931920" cy="96012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Supervised classification: features → risk category. Many trees vote; the majority wins.</a:t>
            </a:r>
            <a:endParaRPr lang="en-US" sz="1150" dirty="0"/>
          </a:p>
        </p:txBody>
      </p:sp>
      <p:sp>
        <p:nvSpPr>
          <p:cNvPr id="24" name="Shape 21"/>
          <p:cNvSpPr/>
          <p:nvPr/>
        </p:nvSpPr>
        <p:spPr>
          <a:xfrm>
            <a:off x="4663440" y="2514600"/>
            <a:ext cx="914400" cy="548640"/>
          </a:xfrm>
          <a:prstGeom prst="roundRect">
            <a:avLst>
              <a:gd name="adj" fmla="val 13333"/>
            </a:avLst>
          </a:prstGeom>
          <a:solidFill>
            <a:srgbClr val="2B2F66"/>
          </a:solidFill>
          <a:ln w="12700">
            <a:solidFill>
              <a:srgbClr val="2B2F66"/>
            </a:solidFill>
            <a:prstDash val="solid"/>
          </a:ln>
        </p:spPr>
      </p:sp>
      <p:sp>
        <p:nvSpPr>
          <p:cNvPr id="25" name="Text 22"/>
          <p:cNvSpPr txBox="1"/>
          <p:nvPr/>
        </p:nvSpPr>
        <p:spPr>
          <a:xfrm>
            <a:off x="4663440" y="2514600"/>
            <a:ext cx="91440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Tree A</a:t>
            </a:r>
            <a:endParaRPr lang="en-US" sz="1100" dirty="0"/>
          </a:p>
        </p:txBody>
      </p:sp>
      <p:sp>
        <p:nvSpPr>
          <p:cNvPr id="26" name="Shape 23"/>
          <p:cNvSpPr/>
          <p:nvPr/>
        </p:nvSpPr>
        <p:spPr>
          <a:xfrm>
            <a:off x="5669280" y="2514600"/>
            <a:ext cx="914400" cy="548640"/>
          </a:xfrm>
          <a:prstGeom prst="roundRect">
            <a:avLst>
              <a:gd name="adj" fmla="val 13333"/>
            </a:avLst>
          </a:prstGeom>
          <a:solidFill>
            <a:srgbClr val="2B2F66"/>
          </a:solidFill>
          <a:ln w="12700">
            <a:solidFill>
              <a:srgbClr val="2B2F66"/>
            </a:solidFill>
            <a:prstDash val="solid"/>
          </a:ln>
        </p:spPr>
      </p:sp>
      <p:sp>
        <p:nvSpPr>
          <p:cNvPr id="27" name="Text 24"/>
          <p:cNvSpPr txBox="1"/>
          <p:nvPr/>
        </p:nvSpPr>
        <p:spPr>
          <a:xfrm>
            <a:off x="5669280" y="2514600"/>
            <a:ext cx="91440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Tree B</a:t>
            </a:r>
            <a:endParaRPr lang="en-US" sz="1100" dirty="0"/>
          </a:p>
        </p:txBody>
      </p:sp>
      <p:sp>
        <p:nvSpPr>
          <p:cNvPr id="28" name="Shape 25"/>
          <p:cNvSpPr/>
          <p:nvPr/>
        </p:nvSpPr>
        <p:spPr>
          <a:xfrm>
            <a:off x="6675120" y="2514600"/>
            <a:ext cx="914400" cy="548640"/>
          </a:xfrm>
          <a:prstGeom prst="roundRect">
            <a:avLst>
              <a:gd name="adj" fmla="val 13333"/>
            </a:avLst>
          </a:prstGeom>
          <a:solidFill>
            <a:srgbClr val="2B2F66"/>
          </a:solidFill>
          <a:ln w="12700">
            <a:solidFill>
              <a:srgbClr val="2B2F66"/>
            </a:solidFill>
            <a:prstDash val="solid"/>
          </a:ln>
        </p:spPr>
      </p:sp>
      <p:sp>
        <p:nvSpPr>
          <p:cNvPr id="29" name="Text 26"/>
          <p:cNvSpPr txBox="1"/>
          <p:nvPr/>
        </p:nvSpPr>
        <p:spPr>
          <a:xfrm>
            <a:off x="6675120" y="2514600"/>
            <a:ext cx="914400" cy="5486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Tree C</a:t>
            </a:r>
            <a:endParaRPr lang="en-US" sz="1100" dirty="0"/>
          </a:p>
        </p:txBody>
      </p:sp>
      <p:sp>
        <p:nvSpPr>
          <p:cNvPr id="30" name="Text 27"/>
          <p:cNvSpPr txBox="1"/>
          <p:nvPr/>
        </p:nvSpPr>
        <p:spPr>
          <a:xfrm>
            <a:off x="7680960" y="2514600"/>
            <a:ext cx="274320" cy="5486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31" name="Shape 28"/>
          <p:cNvSpPr/>
          <p:nvPr/>
        </p:nvSpPr>
        <p:spPr>
          <a:xfrm>
            <a:off x="7955280" y="2514600"/>
            <a:ext cx="822960" cy="548640"/>
          </a:xfrm>
          <a:prstGeom prst="roundRect">
            <a:avLst>
              <a:gd name="adj" fmla="val 13333"/>
            </a:avLst>
          </a:prstGeom>
          <a:solidFill>
            <a:srgbClr val="15966B"/>
          </a:solidFill>
          <a:ln w="12700">
            <a:solidFill>
              <a:srgbClr val="15966B"/>
            </a:solidFill>
            <a:prstDash val="solid"/>
          </a:ln>
        </p:spPr>
      </p:sp>
      <p:sp>
        <p:nvSpPr>
          <p:cNvPr id="32" name="Text 29"/>
          <p:cNvSpPr txBox="1"/>
          <p:nvPr/>
        </p:nvSpPr>
        <p:spPr>
          <a:xfrm>
            <a:off x="7955280" y="2514600"/>
            <a:ext cx="822960" cy="548640"/>
          </a:xfrm>
          <a:prstGeom prst="rect">
            <a:avLst/>
          </a:prstGeom>
          <a:noFill/>
          <a:ln/>
        </p:spPr>
        <p:txBody>
          <a:bodyPr wrap="square" lIns="635" tIns="635" rIns="635" bIns="635"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Majority vote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Risk</a:t>
            </a:r>
            <a:endParaRPr lang="en-US" sz="950" dirty="0"/>
          </a:p>
        </p:txBody>
      </p:sp>
      <p:sp>
        <p:nvSpPr>
          <p:cNvPr id="33" name="Shape 30"/>
          <p:cNvSpPr/>
          <p:nvPr/>
        </p:nvSpPr>
        <p:spPr>
          <a:xfrm>
            <a:off x="365760" y="3474720"/>
            <a:ext cx="8412480" cy="685800"/>
          </a:xfrm>
          <a:prstGeom prst="roundRect">
            <a:avLst>
              <a:gd name="adj" fmla="val 10667"/>
            </a:avLst>
          </a:prstGeom>
          <a:solidFill>
            <a:srgbClr val="171936"/>
          </a:solidFill>
          <a:ln w="12700">
            <a:solidFill>
              <a:srgbClr val="171936"/>
            </a:solidFill>
            <a:prstDash val="solid"/>
          </a:ln>
        </p:spPr>
      </p:sp>
      <p:sp>
        <p:nvSpPr>
          <p:cNvPr id="34" name="Text 31"/>
          <p:cNvSpPr txBox="1"/>
          <p:nvPr/>
        </p:nvSpPr>
        <p:spPr>
          <a:xfrm>
            <a:off x="365760" y="3474720"/>
            <a:ext cx="8412480" cy="68580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Both are traditional ML (ensembles of decision trees), not neural networks. Deep-learning components: LLM + embedding models.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NLP, RAG &amp; Local LLM Pipeline</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365760" y="914400"/>
            <a:ext cx="1249680" cy="777240"/>
          </a:xfrm>
          <a:prstGeom prst="roundRect">
            <a:avLst>
              <a:gd name="adj" fmla="val 9412"/>
            </a:avLst>
          </a:prstGeom>
          <a:solidFill>
            <a:srgbClr val="171936"/>
          </a:solidFill>
          <a:ln w="12700">
            <a:solidFill>
              <a:srgbClr val="171936"/>
            </a:solidFill>
            <a:prstDash val="solid"/>
          </a:ln>
        </p:spPr>
      </p:sp>
      <p:sp>
        <p:nvSpPr>
          <p:cNvPr id="8" name="Text 5"/>
          <p:cNvSpPr txBox="1"/>
          <p:nvPr/>
        </p:nvSpPr>
        <p:spPr>
          <a:xfrm>
            <a:off x="365760" y="914400"/>
            <a:ext cx="1249680" cy="77724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Student Question</a:t>
            </a:r>
            <a:endParaRPr lang="en-US" sz="1050" dirty="0"/>
          </a:p>
        </p:txBody>
      </p:sp>
      <p:sp>
        <p:nvSpPr>
          <p:cNvPr id="9" name="Text 6"/>
          <p:cNvSpPr txBox="1"/>
          <p:nvPr/>
        </p:nvSpPr>
        <p:spPr>
          <a:xfrm>
            <a:off x="1615440" y="914400"/>
            <a:ext cx="182880" cy="7772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1798320" y="914400"/>
            <a:ext cx="1249680" cy="777240"/>
          </a:xfrm>
          <a:prstGeom prst="roundRect">
            <a:avLst>
              <a:gd name="adj" fmla="val 9412"/>
            </a:avLst>
          </a:prstGeom>
          <a:solidFill>
            <a:srgbClr val="6554E8"/>
          </a:solidFill>
          <a:ln w="12700">
            <a:solidFill>
              <a:srgbClr val="6554E8"/>
            </a:solidFill>
            <a:prstDash val="solid"/>
          </a:ln>
        </p:spPr>
      </p:sp>
      <p:sp>
        <p:nvSpPr>
          <p:cNvPr id="11" name="Text 8"/>
          <p:cNvSpPr txBox="1"/>
          <p:nvPr/>
        </p:nvSpPr>
        <p:spPr>
          <a:xfrm>
            <a:off x="1798320" y="914400"/>
            <a:ext cx="1249680" cy="77724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Intent Detection</a:t>
            </a:r>
            <a:endParaRPr lang="en-US" sz="1050" dirty="0"/>
          </a:p>
        </p:txBody>
      </p:sp>
      <p:sp>
        <p:nvSpPr>
          <p:cNvPr id="12" name="Text 9"/>
          <p:cNvSpPr txBox="1"/>
          <p:nvPr/>
        </p:nvSpPr>
        <p:spPr>
          <a:xfrm>
            <a:off x="3048000" y="914400"/>
            <a:ext cx="182880" cy="7772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3230880" y="914400"/>
            <a:ext cx="1249680" cy="777240"/>
          </a:xfrm>
          <a:prstGeom prst="roundRect">
            <a:avLst>
              <a:gd name="adj" fmla="val 9412"/>
            </a:avLst>
          </a:prstGeom>
          <a:solidFill>
            <a:srgbClr val="6554E8"/>
          </a:solidFill>
          <a:ln w="12700">
            <a:solidFill>
              <a:srgbClr val="6554E8"/>
            </a:solidFill>
            <a:prstDash val="solid"/>
          </a:ln>
        </p:spPr>
      </p:sp>
      <p:sp>
        <p:nvSpPr>
          <p:cNvPr id="14" name="Text 11"/>
          <p:cNvSpPr txBox="1"/>
          <p:nvPr/>
        </p:nvSpPr>
        <p:spPr>
          <a:xfrm>
            <a:off x="3230880" y="914400"/>
            <a:ext cx="1249680" cy="77724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Student Data &amp; Insights</a:t>
            </a:r>
            <a:endParaRPr lang="en-US" sz="1050" dirty="0"/>
          </a:p>
        </p:txBody>
      </p:sp>
      <p:sp>
        <p:nvSpPr>
          <p:cNvPr id="15" name="Text 12"/>
          <p:cNvSpPr txBox="1"/>
          <p:nvPr/>
        </p:nvSpPr>
        <p:spPr>
          <a:xfrm>
            <a:off x="4480560" y="914400"/>
            <a:ext cx="182880" cy="7772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6" name="Shape 13"/>
          <p:cNvSpPr/>
          <p:nvPr/>
        </p:nvSpPr>
        <p:spPr>
          <a:xfrm>
            <a:off x="4663440" y="914400"/>
            <a:ext cx="1249680" cy="777240"/>
          </a:xfrm>
          <a:prstGeom prst="roundRect">
            <a:avLst>
              <a:gd name="adj" fmla="val 9412"/>
            </a:avLst>
          </a:prstGeom>
          <a:solidFill>
            <a:srgbClr val="6554E8"/>
          </a:solidFill>
          <a:ln w="12700">
            <a:solidFill>
              <a:srgbClr val="6554E8"/>
            </a:solidFill>
            <a:prstDash val="solid"/>
          </a:ln>
        </p:spPr>
      </p:sp>
      <p:sp>
        <p:nvSpPr>
          <p:cNvPr id="17" name="Text 14"/>
          <p:cNvSpPr txBox="1"/>
          <p:nvPr/>
        </p:nvSpPr>
        <p:spPr>
          <a:xfrm>
            <a:off x="4663440" y="914400"/>
            <a:ext cx="1249680" cy="77724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Context Retrieval</a:t>
            </a:r>
            <a:endParaRPr lang="en-US" sz="1050" dirty="0"/>
          </a:p>
        </p:txBody>
      </p:sp>
      <p:sp>
        <p:nvSpPr>
          <p:cNvPr id="18" name="Text 15"/>
          <p:cNvSpPr txBox="1"/>
          <p:nvPr/>
        </p:nvSpPr>
        <p:spPr>
          <a:xfrm>
            <a:off x="5913120" y="914400"/>
            <a:ext cx="182880" cy="7772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9" name="Shape 16"/>
          <p:cNvSpPr/>
          <p:nvPr/>
        </p:nvSpPr>
        <p:spPr>
          <a:xfrm>
            <a:off x="6096000" y="914400"/>
            <a:ext cx="1249680" cy="777240"/>
          </a:xfrm>
          <a:prstGeom prst="roundRect">
            <a:avLst>
              <a:gd name="adj" fmla="val 9412"/>
            </a:avLst>
          </a:prstGeom>
          <a:solidFill>
            <a:srgbClr val="2B2F66"/>
          </a:solidFill>
          <a:ln w="12700">
            <a:solidFill>
              <a:srgbClr val="2B2F66"/>
            </a:solidFill>
            <a:prstDash val="solid"/>
          </a:ln>
        </p:spPr>
      </p:sp>
      <p:sp>
        <p:nvSpPr>
          <p:cNvPr id="20" name="Text 17"/>
          <p:cNvSpPr txBox="1"/>
          <p:nvPr/>
        </p:nvSpPr>
        <p:spPr>
          <a:xfrm>
            <a:off x="6096000" y="914400"/>
            <a:ext cx="1249680" cy="77724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 Response</a:t>
            </a:r>
            <a:endParaRPr lang="en-US" sz="1050" dirty="0"/>
          </a:p>
        </p:txBody>
      </p:sp>
      <p:sp>
        <p:nvSpPr>
          <p:cNvPr id="21" name="Text 18"/>
          <p:cNvSpPr txBox="1"/>
          <p:nvPr/>
        </p:nvSpPr>
        <p:spPr>
          <a:xfrm>
            <a:off x="7345680" y="914400"/>
            <a:ext cx="182880" cy="7772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7528560" y="914400"/>
            <a:ext cx="1249680" cy="777240"/>
          </a:xfrm>
          <a:prstGeom prst="roundRect">
            <a:avLst>
              <a:gd name="adj" fmla="val 9412"/>
            </a:avLst>
          </a:prstGeom>
          <a:solidFill>
            <a:srgbClr val="15966B"/>
          </a:solidFill>
          <a:ln w="12700">
            <a:solidFill>
              <a:srgbClr val="15966B"/>
            </a:solidFill>
            <a:prstDash val="solid"/>
          </a:ln>
        </p:spPr>
      </p:sp>
      <p:sp>
        <p:nvSpPr>
          <p:cNvPr id="23" name="Text 20"/>
          <p:cNvSpPr txBox="1"/>
          <p:nvPr/>
        </p:nvSpPr>
        <p:spPr>
          <a:xfrm>
            <a:off x="7528560" y="914400"/>
            <a:ext cx="1249680" cy="77724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Student</a:t>
            </a:r>
            <a:endParaRPr lang="en-US" sz="1050" dirty="0"/>
          </a:p>
        </p:txBody>
      </p:sp>
      <p:sp>
        <p:nvSpPr>
          <p:cNvPr id="24" name="Shape 21"/>
          <p:cNvSpPr/>
          <p:nvPr/>
        </p:nvSpPr>
        <p:spPr>
          <a:xfrm>
            <a:off x="365760" y="1920240"/>
            <a:ext cx="2697480" cy="2286000"/>
          </a:xfrm>
          <a:prstGeom prst="rect">
            <a:avLst/>
          </a:prstGeom>
          <a:solidFill>
            <a:srgbClr val="F0EDFF"/>
          </a:solidFill>
          <a:ln w="12700">
            <a:solidFill>
              <a:srgbClr val="F0EDFF"/>
            </a:solidFill>
            <a:prstDash val="solid"/>
          </a:ln>
        </p:spPr>
      </p:sp>
      <p:sp>
        <p:nvSpPr>
          <p:cNvPr id="25" name="Shape 22"/>
          <p:cNvSpPr/>
          <p:nvPr/>
        </p:nvSpPr>
        <p:spPr>
          <a:xfrm>
            <a:off x="365760" y="1920240"/>
            <a:ext cx="64008" cy="2286000"/>
          </a:xfrm>
          <a:prstGeom prst="rect">
            <a:avLst/>
          </a:prstGeom>
          <a:solidFill>
            <a:srgbClr val="6554E8"/>
          </a:solidFill>
          <a:ln w="12700">
            <a:solidFill>
              <a:srgbClr val="6554E8"/>
            </a:solidFill>
            <a:prstDash val="solid"/>
          </a:ln>
        </p:spPr>
      </p:sp>
      <p:sp>
        <p:nvSpPr>
          <p:cNvPr id="26" name="Text 23"/>
          <p:cNvSpPr txBox="1"/>
          <p:nvPr/>
        </p:nvSpPr>
        <p:spPr>
          <a:xfrm>
            <a:off x="502920" y="1965960"/>
            <a:ext cx="251460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Embeddings &amp; Retrieval</a:t>
            </a:r>
            <a:endParaRPr lang="en-US" sz="1300" dirty="0"/>
          </a:p>
        </p:txBody>
      </p:sp>
      <p:sp>
        <p:nvSpPr>
          <p:cNvPr id="27" name="Text 24"/>
          <p:cNvSpPr txBox="1"/>
          <p:nvPr/>
        </p:nvSpPr>
        <p:spPr>
          <a:xfrm>
            <a:off x="502920" y="2286000"/>
            <a:ext cx="2514600" cy="1874520"/>
          </a:xfrm>
          <a:prstGeom prst="rect">
            <a:avLst/>
          </a:prstGeom>
          <a:noFill/>
          <a:ln/>
        </p:spPr>
        <p:txBody>
          <a:bodyPr wrap="square" lIns="635" tIns="635" rIns="635" bIns="635" rtlCol="0" anchor="t"/>
          <a:lstStyle/>
          <a:p>
            <a:pPr indent="0" marL="0">
              <a:buNone/>
            </a:pPr>
            <a:r>
              <a:rPr lang="en-US" sz="1100" dirty="0">
                <a:solidFill>
                  <a:srgbClr val="171936"/>
                </a:solidFill>
                <a:latin typeface="Calibri" pitchFamily="34" charset="0"/>
                <a:ea typeface="Calibri" pitchFamily="34" charset="-122"/>
                <a:cs typeface="Calibri" pitchFamily="34" charset="-120"/>
              </a:rPr>
              <a:t>Sentence Transformers turn text into vectors; FAISS finds the most similar chunks (confirm in source).</a:t>
            </a:r>
            <a:endParaRPr lang="en-US" sz="1100" dirty="0"/>
          </a:p>
        </p:txBody>
      </p:sp>
      <p:sp>
        <p:nvSpPr>
          <p:cNvPr id="28" name="Shape 25"/>
          <p:cNvSpPr/>
          <p:nvPr/>
        </p:nvSpPr>
        <p:spPr>
          <a:xfrm>
            <a:off x="3200400" y="1920240"/>
            <a:ext cx="2697480" cy="2286000"/>
          </a:xfrm>
          <a:prstGeom prst="rect">
            <a:avLst/>
          </a:prstGeom>
          <a:solidFill>
            <a:srgbClr val="F0EDFF"/>
          </a:solidFill>
          <a:ln w="12700">
            <a:solidFill>
              <a:srgbClr val="F0EDFF"/>
            </a:solidFill>
            <a:prstDash val="solid"/>
          </a:ln>
        </p:spPr>
      </p:sp>
      <p:sp>
        <p:nvSpPr>
          <p:cNvPr id="29" name="Shape 26"/>
          <p:cNvSpPr/>
          <p:nvPr/>
        </p:nvSpPr>
        <p:spPr>
          <a:xfrm>
            <a:off x="3200400" y="1920240"/>
            <a:ext cx="64008" cy="2286000"/>
          </a:xfrm>
          <a:prstGeom prst="rect">
            <a:avLst/>
          </a:prstGeom>
          <a:solidFill>
            <a:srgbClr val="2B2F66"/>
          </a:solidFill>
          <a:ln w="12700">
            <a:solidFill>
              <a:srgbClr val="2B2F66"/>
            </a:solidFill>
            <a:prstDash val="solid"/>
          </a:ln>
        </p:spPr>
      </p:sp>
      <p:sp>
        <p:nvSpPr>
          <p:cNvPr id="30" name="Text 27"/>
          <p:cNvSpPr txBox="1"/>
          <p:nvPr/>
        </p:nvSpPr>
        <p:spPr>
          <a:xfrm>
            <a:off x="3337560" y="1965960"/>
            <a:ext cx="2514600" cy="292608"/>
          </a:xfrm>
          <a:prstGeom prst="rect">
            <a:avLst/>
          </a:prstGeom>
          <a:noFill/>
          <a:ln/>
        </p:spPr>
        <p:txBody>
          <a:bodyPr wrap="square" lIns="635" tIns="635" rIns="635" bIns="635" rtlCol="0" anchor="ctr"/>
          <a:lstStyle/>
          <a:p>
            <a:pPr indent="0" marL="0">
              <a:buNone/>
            </a:pPr>
            <a:r>
              <a:rPr lang="en-US" sz="1300" b="1" dirty="0">
                <a:solidFill>
                  <a:srgbClr val="2B2F66"/>
                </a:solidFill>
                <a:latin typeface="Calibri" pitchFamily="34" charset="0"/>
                <a:ea typeface="Calibri" pitchFamily="34" charset="-122"/>
                <a:cs typeface="Calibri" pitchFamily="34" charset="-120"/>
              </a:rPr>
              <a:t>RAG</a:t>
            </a:r>
            <a:endParaRPr lang="en-US" sz="1300" dirty="0"/>
          </a:p>
        </p:txBody>
      </p:sp>
      <p:sp>
        <p:nvSpPr>
          <p:cNvPr id="31" name="Text 28"/>
          <p:cNvSpPr txBox="1"/>
          <p:nvPr/>
        </p:nvSpPr>
        <p:spPr>
          <a:xfrm>
            <a:off x="3337560" y="2286000"/>
            <a:ext cx="2514600" cy="1874520"/>
          </a:xfrm>
          <a:prstGeom prst="rect">
            <a:avLst/>
          </a:prstGeom>
          <a:noFill/>
          <a:ln/>
        </p:spPr>
        <p:txBody>
          <a:bodyPr wrap="square" lIns="635" tIns="635" rIns="635" bIns="635" rtlCol="0" anchor="t"/>
          <a:lstStyle/>
          <a:p>
            <a:pPr indent="0" marL="0">
              <a:buNone/>
            </a:pPr>
            <a:r>
              <a:rPr lang="en-US" sz="1100" dirty="0">
                <a:solidFill>
                  <a:srgbClr val="171936"/>
                </a:solidFill>
                <a:latin typeface="Calibri" pitchFamily="34" charset="0"/>
                <a:ea typeface="Calibri" pitchFamily="34" charset="-122"/>
                <a:cs typeface="Calibri" pitchFamily="34" charset="-120"/>
              </a:rPr>
              <a:t>Retrieved context is added to the prompt to help ground the answer. It reduces, but does not remove, wrong answers.</a:t>
            </a:r>
            <a:endParaRPr lang="en-US" sz="1100" dirty="0"/>
          </a:p>
        </p:txBody>
      </p:sp>
      <p:sp>
        <p:nvSpPr>
          <p:cNvPr id="32" name="Shape 29"/>
          <p:cNvSpPr/>
          <p:nvPr/>
        </p:nvSpPr>
        <p:spPr>
          <a:xfrm>
            <a:off x="6035040" y="1920240"/>
            <a:ext cx="2743200" cy="2286000"/>
          </a:xfrm>
          <a:prstGeom prst="rect">
            <a:avLst/>
          </a:prstGeom>
          <a:solidFill>
            <a:srgbClr val="F0EDFF"/>
          </a:solidFill>
          <a:ln w="12700">
            <a:solidFill>
              <a:srgbClr val="F0EDFF"/>
            </a:solidFill>
            <a:prstDash val="solid"/>
          </a:ln>
        </p:spPr>
      </p:sp>
      <p:sp>
        <p:nvSpPr>
          <p:cNvPr id="33" name="Shape 30"/>
          <p:cNvSpPr/>
          <p:nvPr/>
        </p:nvSpPr>
        <p:spPr>
          <a:xfrm>
            <a:off x="6035040" y="1920240"/>
            <a:ext cx="64008" cy="2286000"/>
          </a:xfrm>
          <a:prstGeom prst="rect">
            <a:avLst/>
          </a:prstGeom>
          <a:solidFill>
            <a:srgbClr val="15966B"/>
          </a:solidFill>
          <a:ln w="12700">
            <a:solidFill>
              <a:srgbClr val="15966B"/>
            </a:solidFill>
            <a:prstDash val="solid"/>
          </a:ln>
        </p:spPr>
      </p:sp>
      <p:sp>
        <p:nvSpPr>
          <p:cNvPr id="34" name="Text 31"/>
          <p:cNvSpPr txBox="1"/>
          <p:nvPr/>
        </p:nvSpPr>
        <p:spPr>
          <a:xfrm>
            <a:off x="6172200" y="1965960"/>
            <a:ext cx="2560320" cy="292608"/>
          </a:xfrm>
          <a:prstGeom prst="rect">
            <a:avLst/>
          </a:prstGeom>
          <a:noFill/>
          <a:ln/>
        </p:spPr>
        <p:txBody>
          <a:bodyPr wrap="square" lIns="635" tIns="635" rIns="635" bIns="635" rtlCol="0" anchor="ctr"/>
          <a:lstStyle/>
          <a:p>
            <a:pPr indent="0" marL="0">
              <a:buNone/>
            </a:pPr>
            <a:r>
              <a:rPr lang="en-US" sz="1300" b="1" dirty="0">
                <a:solidFill>
                  <a:srgbClr val="15966B"/>
                </a:solidFill>
                <a:latin typeface="Calibri" pitchFamily="34" charset="0"/>
                <a:ea typeface="Calibri" pitchFamily="34" charset="-122"/>
                <a:cs typeface="Calibri" pitchFamily="34" charset="-120"/>
              </a:rPr>
              <a:t>Local LLM (Ollama)</a:t>
            </a:r>
            <a:endParaRPr lang="en-US" sz="1300" dirty="0"/>
          </a:p>
        </p:txBody>
      </p:sp>
      <p:sp>
        <p:nvSpPr>
          <p:cNvPr id="35" name="Text 32"/>
          <p:cNvSpPr txBox="1"/>
          <p:nvPr/>
        </p:nvSpPr>
        <p:spPr>
          <a:xfrm>
            <a:off x="6172200" y="2286000"/>
            <a:ext cx="2560320" cy="1874520"/>
          </a:xfrm>
          <a:prstGeom prst="rect">
            <a:avLst/>
          </a:prstGeom>
          <a:noFill/>
          <a:ln/>
        </p:spPr>
        <p:txBody>
          <a:bodyPr wrap="square" lIns="635" tIns="635" rIns="635" bIns="635" rtlCol="0" anchor="t"/>
          <a:lstStyle/>
          <a:p>
            <a:pPr indent="0" marL="0">
              <a:buNone/>
            </a:pPr>
            <a:r>
              <a:rPr lang="en-US" sz="1100" dirty="0">
                <a:solidFill>
                  <a:srgbClr val="171936"/>
                </a:solidFill>
                <a:latin typeface="Calibri" pitchFamily="34" charset="0"/>
                <a:ea typeface="Calibri" pitchFamily="34" charset="-122"/>
                <a:cs typeface="Calibri" pitchFamily="34" charset="-120"/>
              </a:rPr>
              <a:t>llama3.2:3b via local API. Pretrained, not trained by us. Local: private, no cloud cost; needs hardware, adds latency.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Cloud Computing: Amazon S3 Integration</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365760" y="914400"/>
            <a:ext cx="1897380" cy="640080"/>
          </a:xfrm>
          <a:prstGeom prst="roundRect">
            <a:avLst>
              <a:gd name="adj" fmla="val 11429"/>
            </a:avLst>
          </a:prstGeom>
          <a:solidFill>
            <a:srgbClr val="171936"/>
          </a:solidFill>
          <a:ln w="12700">
            <a:solidFill>
              <a:srgbClr val="171936"/>
            </a:solidFill>
            <a:prstDash val="solid"/>
          </a:ln>
        </p:spPr>
      </p:sp>
      <p:sp>
        <p:nvSpPr>
          <p:cNvPr id="8" name="Text 5"/>
          <p:cNvSpPr txBox="1"/>
          <p:nvPr/>
        </p:nvSpPr>
        <p:spPr>
          <a:xfrm>
            <a:off x="365760" y="914400"/>
            <a:ext cx="1897380" cy="64008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Generated PDF</a:t>
            </a:r>
            <a:endParaRPr lang="en-US" sz="1050" dirty="0"/>
          </a:p>
        </p:txBody>
      </p:sp>
      <p:sp>
        <p:nvSpPr>
          <p:cNvPr id="9" name="Text 6"/>
          <p:cNvSpPr txBox="1"/>
          <p:nvPr/>
        </p:nvSpPr>
        <p:spPr>
          <a:xfrm>
            <a:off x="2263140" y="914400"/>
            <a:ext cx="27432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2537460" y="914400"/>
            <a:ext cx="1897380" cy="640080"/>
          </a:xfrm>
          <a:prstGeom prst="roundRect">
            <a:avLst>
              <a:gd name="adj" fmla="val 11429"/>
            </a:avLst>
          </a:prstGeom>
          <a:solidFill>
            <a:srgbClr val="6554E8"/>
          </a:solidFill>
          <a:ln w="12700">
            <a:solidFill>
              <a:srgbClr val="6554E8"/>
            </a:solidFill>
            <a:prstDash val="solid"/>
          </a:ln>
        </p:spPr>
      </p:sp>
      <p:sp>
        <p:nvSpPr>
          <p:cNvPr id="11" name="Text 8"/>
          <p:cNvSpPr txBox="1"/>
          <p:nvPr/>
        </p:nvSpPr>
        <p:spPr>
          <a:xfrm>
            <a:off x="2537460" y="914400"/>
            <a:ext cx="1897380" cy="64008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Boto3 SDK</a:t>
            </a:r>
            <a:endParaRPr lang="en-US" sz="1050" dirty="0"/>
          </a:p>
        </p:txBody>
      </p:sp>
      <p:sp>
        <p:nvSpPr>
          <p:cNvPr id="12" name="Text 9"/>
          <p:cNvSpPr txBox="1"/>
          <p:nvPr/>
        </p:nvSpPr>
        <p:spPr>
          <a:xfrm>
            <a:off x="4434840" y="914400"/>
            <a:ext cx="27432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709160" y="914400"/>
            <a:ext cx="1897380" cy="640080"/>
          </a:xfrm>
          <a:prstGeom prst="roundRect">
            <a:avLst>
              <a:gd name="adj" fmla="val 11429"/>
            </a:avLst>
          </a:prstGeom>
          <a:solidFill>
            <a:srgbClr val="2B2F66"/>
          </a:solidFill>
          <a:ln w="12700">
            <a:solidFill>
              <a:srgbClr val="2B2F66"/>
            </a:solidFill>
            <a:prstDash val="solid"/>
          </a:ln>
        </p:spPr>
      </p:sp>
      <p:sp>
        <p:nvSpPr>
          <p:cNvPr id="14" name="Text 11"/>
          <p:cNvSpPr txBox="1"/>
          <p:nvPr/>
        </p:nvSpPr>
        <p:spPr>
          <a:xfrm>
            <a:off x="4709160" y="914400"/>
            <a:ext cx="1897380" cy="64008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IAM-authorized request</a:t>
            </a:r>
            <a:endParaRPr lang="en-US" sz="1050" dirty="0"/>
          </a:p>
        </p:txBody>
      </p:sp>
      <p:sp>
        <p:nvSpPr>
          <p:cNvPr id="15" name="Text 12"/>
          <p:cNvSpPr txBox="1"/>
          <p:nvPr/>
        </p:nvSpPr>
        <p:spPr>
          <a:xfrm>
            <a:off x="6606540" y="914400"/>
            <a:ext cx="274320" cy="64008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6" name="Shape 13"/>
          <p:cNvSpPr/>
          <p:nvPr/>
        </p:nvSpPr>
        <p:spPr>
          <a:xfrm>
            <a:off x="6880860" y="914400"/>
            <a:ext cx="1897380" cy="640080"/>
          </a:xfrm>
          <a:prstGeom prst="roundRect">
            <a:avLst>
              <a:gd name="adj" fmla="val 11429"/>
            </a:avLst>
          </a:prstGeom>
          <a:solidFill>
            <a:srgbClr val="15966B"/>
          </a:solidFill>
          <a:ln w="12700">
            <a:solidFill>
              <a:srgbClr val="15966B"/>
            </a:solidFill>
            <a:prstDash val="solid"/>
          </a:ln>
        </p:spPr>
      </p:sp>
      <p:sp>
        <p:nvSpPr>
          <p:cNvPr id="17" name="Text 14"/>
          <p:cNvSpPr txBox="1"/>
          <p:nvPr/>
        </p:nvSpPr>
        <p:spPr>
          <a:xfrm>
            <a:off x="6880860" y="914400"/>
            <a:ext cx="1897380" cy="64008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Amazon S3 (private)</a:t>
            </a:r>
            <a:endParaRPr lang="en-US" sz="1050" dirty="0"/>
          </a:p>
        </p:txBody>
      </p:sp>
      <p:sp>
        <p:nvSpPr>
          <p:cNvPr id="18" name="Shape 15"/>
          <p:cNvSpPr/>
          <p:nvPr/>
        </p:nvSpPr>
        <p:spPr>
          <a:xfrm>
            <a:off x="365760" y="1783080"/>
            <a:ext cx="4114800" cy="1920240"/>
          </a:xfrm>
          <a:prstGeom prst="rect">
            <a:avLst/>
          </a:prstGeom>
          <a:solidFill>
            <a:srgbClr val="F0EDFF"/>
          </a:solidFill>
          <a:ln w="12700">
            <a:solidFill>
              <a:srgbClr val="F0EDFF"/>
            </a:solidFill>
            <a:prstDash val="solid"/>
          </a:ln>
        </p:spPr>
      </p:sp>
      <p:sp>
        <p:nvSpPr>
          <p:cNvPr id="19" name="Shape 16"/>
          <p:cNvSpPr/>
          <p:nvPr/>
        </p:nvSpPr>
        <p:spPr>
          <a:xfrm>
            <a:off x="365760" y="1783080"/>
            <a:ext cx="64008" cy="1920240"/>
          </a:xfrm>
          <a:prstGeom prst="rect">
            <a:avLst/>
          </a:prstGeom>
          <a:solidFill>
            <a:srgbClr val="15966B"/>
          </a:solidFill>
          <a:ln w="12700">
            <a:solidFill>
              <a:srgbClr val="15966B"/>
            </a:solidFill>
            <a:prstDash val="solid"/>
          </a:ln>
        </p:spPr>
      </p:sp>
      <p:sp>
        <p:nvSpPr>
          <p:cNvPr id="20" name="Text 17"/>
          <p:cNvSpPr txBox="1"/>
          <p:nvPr/>
        </p:nvSpPr>
        <p:spPr>
          <a:xfrm>
            <a:off x="502920" y="1828800"/>
            <a:ext cx="3931920" cy="292608"/>
          </a:xfrm>
          <a:prstGeom prst="rect">
            <a:avLst/>
          </a:prstGeom>
          <a:noFill/>
          <a:ln/>
        </p:spPr>
        <p:txBody>
          <a:bodyPr wrap="square" lIns="635" tIns="635" rIns="635" bIns="635" rtlCol="0" anchor="ctr"/>
          <a:lstStyle/>
          <a:p>
            <a:pPr indent="0" marL="0">
              <a:buNone/>
            </a:pPr>
            <a:r>
              <a:rPr lang="en-US" sz="1300" b="1" dirty="0">
                <a:solidFill>
                  <a:srgbClr val="15966B"/>
                </a:solidFill>
                <a:latin typeface="Calibri" pitchFamily="34" charset="0"/>
                <a:ea typeface="Calibri" pitchFamily="34" charset="-122"/>
                <a:cs typeface="Calibri" pitchFamily="34" charset="-120"/>
              </a:rPr>
              <a:t>Configuration (verify in source)</a:t>
            </a:r>
            <a:endParaRPr lang="en-US" sz="1300" dirty="0"/>
          </a:p>
        </p:txBody>
      </p:sp>
      <p:sp>
        <p:nvSpPr>
          <p:cNvPr id="21" name="Text 18"/>
          <p:cNvSpPr txBox="1"/>
          <p:nvPr/>
        </p:nvSpPr>
        <p:spPr>
          <a:xfrm>
            <a:off x="502920" y="2148840"/>
            <a:ext cx="3931920" cy="150876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Bucket: eduassist-ai</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Region: ap-southeast-2</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Key: reports/student_&lt;student_id&gt;_&lt;timestamp&gt;.pdf</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Timestamp keeps each report as a separate object</a:t>
            </a:r>
            <a:endParaRPr lang="en-US" sz="1150" dirty="0"/>
          </a:p>
        </p:txBody>
      </p:sp>
      <p:sp>
        <p:nvSpPr>
          <p:cNvPr id="22" name="Shape 19"/>
          <p:cNvSpPr/>
          <p:nvPr/>
        </p:nvSpPr>
        <p:spPr>
          <a:xfrm>
            <a:off x="4663440" y="1783080"/>
            <a:ext cx="4114800" cy="1920240"/>
          </a:xfrm>
          <a:prstGeom prst="rect">
            <a:avLst/>
          </a:prstGeom>
          <a:solidFill>
            <a:srgbClr val="F0EDFF"/>
          </a:solidFill>
          <a:ln w="12700">
            <a:solidFill>
              <a:srgbClr val="F0EDFF"/>
            </a:solidFill>
            <a:prstDash val="solid"/>
          </a:ln>
        </p:spPr>
      </p:sp>
      <p:sp>
        <p:nvSpPr>
          <p:cNvPr id="23" name="Shape 20"/>
          <p:cNvSpPr/>
          <p:nvPr/>
        </p:nvSpPr>
        <p:spPr>
          <a:xfrm>
            <a:off x="4663440" y="1783080"/>
            <a:ext cx="64008" cy="1920240"/>
          </a:xfrm>
          <a:prstGeom prst="rect">
            <a:avLst/>
          </a:prstGeom>
          <a:solidFill>
            <a:srgbClr val="6554E8"/>
          </a:solidFill>
          <a:ln w="12700">
            <a:solidFill>
              <a:srgbClr val="6554E8"/>
            </a:solidFill>
            <a:prstDash val="solid"/>
          </a:ln>
        </p:spPr>
      </p:sp>
      <p:sp>
        <p:nvSpPr>
          <p:cNvPr id="24" name="Text 21"/>
          <p:cNvSpPr txBox="1"/>
          <p:nvPr/>
        </p:nvSpPr>
        <p:spPr>
          <a:xfrm>
            <a:off x="4800600" y="1828800"/>
            <a:ext cx="393192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Concepts</a:t>
            </a:r>
            <a:endParaRPr lang="en-US" sz="1300" dirty="0"/>
          </a:p>
        </p:txBody>
      </p:sp>
      <p:sp>
        <p:nvSpPr>
          <p:cNvPr id="25" name="Text 22"/>
          <p:cNvSpPr txBox="1"/>
          <p:nvPr/>
        </p:nvSpPr>
        <p:spPr>
          <a:xfrm>
            <a:off x="4800600" y="2148840"/>
            <a:ext cx="3931920" cy="150876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 Bucket = container, object = file</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Key / prefix = object path</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Private bucket, IAM least privilege</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 Credentials never shown or in code</a:t>
            </a:r>
            <a:endParaRPr lang="en-US" sz="1150" dirty="0"/>
          </a:p>
        </p:txBody>
      </p:sp>
      <p:sp>
        <p:nvSpPr>
          <p:cNvPr id="26" name="Shape 23"/>
          <p:cNvSpPr/>
          <p:nvPr/>
        </p:nvSpPr>
        <p:spPr>
          <a:xfrm>
            <a:off x="365760" y="3886200"/>
            <a:ext cx="8412480" cy="548640"/>
          </a:xfrm>
          <a:prstGeom prst="roundRect">
            <a:avLst>
              <a:gd name="adj" fmla="val 13333"/>
            </a:avLst>
          </a:prstGeom>
          <a:solidFill>
            <a:srgbClr val="6E7490"/>
          </a:solidFill>
          <a:ln w="12700">
            <a:solidFill>
              <a:srgbClr val="6E7490"/>
            </a:solidFill>
            <a:prstDash val="solid"/>
          </a:ln>
        </p:spPr>
      </p:sp>
      <p:sp>
        <p:nvSpPr>
          <p:cNvPr id="27" name="Text 24"/>
          <p:cNvSpPr txBox="1"/>
          <p:nvPr/>
        </p:nvSpPr>
        <p:spPr>
          <a:xfrm>
            <a:off x="365760" y="3886200"/>
            <a:ext cx="8412480" cy="5486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Implemented: S3 upload of PDFs   |   Not implemented / unverified: AWS hosting, authentication, public links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PDF Report Generation Workflow</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365760" y="1143000"/>
            <a:ext cx="1828800" cy="1005840"/>
          </a:xfrm>
          <a:prstGeom prst="roundRect">
            <a:avLst>
              <a:gd name="adj" fmla="val 7273"/>
            </a:avLst>
          </a:prstGeom>
          <a:solidFill>
            <a:srgbClr val="6554E8"/>
          </a:solidFill>
          <a:ln w="12700">
            <a:solidFill>
              <a:srgbClr val="6554E8"/>
            </a:solidFill>
            <a:prstDash val="solid"/>
          </a:ln>
        </p:spPr>
      </p:sp>
      <p:sp>
        <p:nvSpPr>
          <p:cNvPr id="8" name="Text 5"/>
          <p:cNvSpPr txBox="1"/>
          <p:nvPr/>
        </p:nvSpPr>
        <p:spPr>
          <a:xfrm>
            <a:off x="365760" y="114300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User loads a student</a:t>
            </a:r>
            <a:endParaRPr lang="en-US" sz="1200" dirty="0"/>
          </a:p>
        </p:txBody>
      </p:sp>
      <p:sp>
        <p:nvSpPr>
          <p:cNvPr id="9" name="Text 6"/>
          <p:cNvSpPr txBox="1"/>
          <p:nvPr/>
        </p:nvSpPr>
        <p:spPr>
          <a:xfrm>
            <a:off x="2194560" y="1143000"/>
            <a:ext cx="320040" cy="10058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2514600" y="1143000"/>
            <a:ext cx="1828800" cy="1005840"/>
          </a:xfrm>
          <a:prstGeom prst="roundRect">
            <a:avLst>
              <a:gd name="adj" fmla="val 7273"/>
            </a:avLst>
          </a:prstGeom>
          <a:solidFill>
            <a:srgbClr val="6554E8"/>
          </a:solidFill>
          <a:ln w="12700">
            <a:solidFill>
              <a:srgbClr val="6554E8"/>
            </a:solidFill>
            <a:prstDash val="solid"/>
          </a:ln>
        </p:spPr>
      </p:sp>
      <p:sp>
        <p:nvSpPr>
          <p:cNvPr id="11" name="Text 8"/>
          <p:cNvSpPr txBox="1"/>
          <p:nvPr/>
        </p:nvSpPr>
        <p:spPr>
          <a:xfrm>
            <a:off x="2514600" y="114300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Clicks "Generate Report &amp; Save to S3"</a:t>
            </a:r>
            <a:endParaRPr lang="en-US" sz="1200" dirty="0"/>
          </a:p>
        </p:txBody>
      </p:sp>
      <p:sp>
        <p:nvSpPr>
          <p:cNvPr id="12" name="Text 9"/>
          <p:cNvSpPr txBox="1"/>
          <p:nvPr/>
        </p:nvSpPr>
        <p:spPr>
          <a:xfrm>
            <a:off x="4343400" y="1143000"/>
            <a:ext cx="320040" cy="10058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663440" y="1143000"/>
            <a:ext cx="1828800" cy="1005840"/>
          </a:xfrm>
          <a:prstGeom prst="roundRect">
            <a:avLst>
              <a:gd name="adj" fmla="val 7273"/>
            </a:avLst>
          </a:prstGeom>
          <a:solidFill>
            <a:srgbClr val="6554E8"/>
          </a:solidFill>
          <a:ln w="12700">
            <a:solidFill>
              <a:srgbClr val="6554E8"/>
            </a:solidFill>
            <a:prstDash val="solid"/>
          </a:ln>
        </p:spPr>
      </p:sp>
      <p:sp>
        <p:nvSpPr>
          <p:cNvPr id="14" name="Text 11"/>
          <p:cNvSpPr txBox="1"/>
          <p:nvPr/>
        </p:nvSpPr>
        <p:spPr>
          <a:xfrm>
            <a:off x="4663440" y="114300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React calls FastAPI endpoint</a:t>
            </a:r>
            <a:endParaRPr lang="en-US" sz="1200" dirty="0"/>
          </a:p>
        </p:txBody>
      </p:sp>
      <p:sp>
        <p:nvSpPr>
          <p:cNvPr id="15" name="Text 12"/>
          <p:cNvSpPr txBox="1"/>
          <p:nvPr/>
        </p:nvSpPr>
        <p:spPr>
          <a:xfrm>
            <a:off x="6492240" y="1143000"/>
            <a:ext cx="320040" cy="10058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16" name="Shape 13"/>
          <p:cNvSpPr/>
          <p:nvPr/>
        </p:nvSpPr>
        <p:spPr>
          <a:xfrm>
            <a:off x="6812280" y="1143000"/>
            <a:ext cx="1828800" cy="1005840"/>
          </a:xfrm>
          <a:prstGeom prst="roundRect">
            <a:avLst>
              <a:gd name="adj" fmla="val 7273"/>
            </a:avLst>
          </a:prstGeom>
          <a:solidFill>
            <a:srgbClr val="6554E8"/>
          </a:solidFill>
          <a:ln w="12700">
            <a:solidFill>
              <a:srgbClr val="6554E8"/>
            </a:solidFill>
            <a:prstDash val="solid"/>
          </a:ln>
        </p:spPr>
      </p:sp>
      <p:sp>
        <p:nvSpPr>
          <p:cNvPr id="17" name="Text 14"/>
          <p:cNvSpPr txBox="1"/>
          <p:nvPr/>
        </p:nvSpPr>
        <p:spPr>
          <a:xfrm>
            <a:off x="6812280" y="114300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Backend prepares report content</a:t>
            </a:r>
            <a:endParaRPr lang="en-US" sz="1200" dirty="0"/>
          </a:p>
        </p:txBody>
      </p:sp>
      <p:sp>
        <p:nvSpPr>
          <p:cNvPr id="18" name="Shape 15"/>
          <p:cNvSpPr/>
          <p:nvPr/>
        </p:nvSpPr>
        <p:spPr>
          <a:xfrm>
            <a:off x="365760" y="2468880"/>
            <a:ext cx="1828800" cy="1005840"/>
          </a:xfrm>
          <a:prstGeom prst="roundRect">
            <a:avLst>
              <a:gd name="adj" fmla="val 7273"/>
            </a:avLst>
          </a:prstGeom>
          <a:solidFill>
            <a:srgbClr val="2B2F66"/>
          </a:solidFill>
          <a:ln w="12700">
            <a:solidFill>
              <a:srgbClr val="2B2F66"/>
            </a:solidFill>
            <a:prstDash val="solid"/>
          </a:ln>
        </p:spPr>
      </p:sp>
      <p:sp>
        <p:nvSpPr>
          <p:cNvPr id="19" name="Text 16"/>
          <p:cNvSpPr txBox="1"/>
          <p:nvPr/>
        </p:nvSpPr>
        <p:spPr>
          <a:xfrm>
            <a:off x="365760" y="246888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ReportLab generates PDF</a:t>
            </a:r>
            <a:endParaRPr lang="en-US" sz="1200" dirty="0"/>
          </a:p>
        </p:txBody>
      </p:sp>
      <p:sp>
        <p:nvSpPr>
          <p:cNvPr id="20" name="Text 17"/>
          <p:cNvSpPr txBox="1"/>
          <p:nvPr/>
        </p:nvSpPr>
        <p:spPr>
          <a:xfrm>
            <a:off x="2194560" y="2468880"/>
            <a:ext cx="320040" cy="10058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2514600" y="2468880"/>
            <a:ext cx="1828800" cy="1005840"/>
          </a:xfrm>
          <a:prstGeom prst="roundRect">
            <a:avLst>
              <a:gd name="adj" fmla="val 7273"/>
            </a:avLst>
          </a:prstGeom>
          <a:solidFill>
            <a:srgbClr val="15966B"/>
          </a:solidFill>
          <a:ln w="12700">
            <a:solidFill>
              <a:srgbClr val="15966B"/>
            </a:solidFill>
            <a:prstDash val="solid"/>
          </a:ln>
        </p:spPr>
      </p:sp>
      <p:sp>
        <p:nvSpPr>
          <p:cNvPr id="22" name="Text 19"/>
          <p:cNvSpPr txBox="1"/>
          <p:nvPr/>
        </p:nvSpPr>
        <p:spPr>
          <a:xfrm>
            <a:off x="2514600" y="246888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Boto3 uploads PDF to Amazon S3</a:t>
            </a:r>
            <a:endParaRPr lang="en-US" sz="1200" dirty="0"/>
          </a:p>
        </p:txBody>
      </p:sp>
      <p:sp>
        <p:nvSpPr>
          <p:cNvPr id="23" name="Text 20"/>
          <p:cNvSpPr txBox="1"/>
          <p:nvPr/>
        </p:nvSpPr>
        <p:spPr>
          <a:xfrm>
            <a:off x="4343400" y="2468880"/>
            <a:ext cx="320040" cy="10058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24" name="Shape 21"/>
          <p:cNvSpPr/>
          <p:nvPr/>
        </p:nvSpPr>
        <p:spPr>
          <a:xfrm>
            <a:off x="4663440" y="2468880"/>
            <a:ext cx="1828800" cy="1005840"/>
          </a:xfrm>
          <a:prstGeom prst="roundRect">
            <a:avLst>
              <a:gd name="adj" fmla="val 7273"/>
            </a:avLst>
          </a:prstGeom>
          <a:solidFill>
            <a:srgbClr val="6554E8"/>
          </a:solidFill>
          <a:ln w="12700">
            <a:solidFill>
              <a:srgbClr val="6554E8"/>
            </a:solidFill>
            <a:prstDash val="solid"/>
          </a:ln>
        </p:spPr>
      </p:sp>
      <p:sp>
        <p:nvSpPr>
          <p:cNvPr id="25" name="Text 22"/>
          <p:cNvSpPr txBox="1"/>
          <p:nvPr/>
        </p:nvSpPr>
        <p:spPr>
          <a:xfrm>
            <a:off x="4663440" y="246888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 Backend returns result + S3 key</a:t>
            </a:r>
            <a:endParaRPr lang="en-US" sz="1200" dirty="0"/>
          </a:p>
        </p:txBody>
      </p:sp>
      <p:sp>
        <p:nvSpPr>
          <p:cNvPr id="26" name="Text 23"/>
          <p:cNvSpPr txBox="1"/>
          <p:nvPr/>
        </p:nvSpPr>
        <p:spPr>
          <a:xfrm>
            <a:off x="6492240" y="2468880"/>
            <a:ext cx="320040" cy="1005840"/>
          </a:xfrm>
          <a:prstGeom prst="rect">
            <a:avLst/>
          </a:prstGeom>
          <a:noFill/>
          <a:ln/>
        </p:spPr>
        <p:txBody>
          <a:bodyPr wrap="square" lIns="0" tIns="0" rIns="0" bIns="0" rtlCol="0" anchor="ctr"/>
          <a:lstStyle/>
          <a:p>
            <a:pPr algn="ctr" indent="0" marL="0">
              <a:buNone/>
            </a:pPr>
            <a:r>
              <a:rPr lang="en-US" sz="1400" b="1" dirty="0">
                <a:solidFill>
                  <a:srgbClr val="171936"/>
                </a:solidFill>
                <a:latin typeface="Calibri" pitchFamily="34" charset="0"/>
                <a:ea typeface="Calibri" pitchFamily="34" charset="-122"/>
                <a:cs typeface="Calibri" pitchFamily="34" charset="-120"/>
              </a:rPr>
              <a:t>→</a:t>
            </a:r>
            <a:endParaRPr lang="en-US" sz="1400" dirty="0"/>
          </a:p>
        </p:txBody>
      </p:sp>
      <p:sp>
        <p:nvSpPr>
          <p:cNvPr id="27" name="Shape 24"/>
          <p:cNvSpPr/>
          <p:nvPr/>
        </p:nvSpPr>
        <p:spPr>
          <a:xfrm>
            <a:off x="6812280" y="2468880"/>
            <a:ext cx="1828800" cy="1005840"/>
          </a:xfrm>
          <a:prstGeom prst="roundRect">
            <a:avLst>
              <a:gd name="adj" fmla="val 7273"/>
            </a:avLst>
          </a:prstGeom>
          <a:solidFill>
            <a:srgbClr val="6554E8"/>
          </a:solidFill>
          <a:ln w="12700">
            <a:solidFill>
              <a:srgbClr val="6554E8"/>
            </a:solidFill>
            <a:prstDash val="solid"/>
          </a:ln>
        </p:spPr>
      </p:sp>
      <p:sp>
        <p:nvSpPr>
          <p:cNvPr id="28" name="Text 25"/>
          <p:cNvSpPr txBox="1"/>
          <p:nvPr/>
        </p:nvSpPr>
        <p:spPr>
          <a:xfrm>
            <a:off x="6812280" y="2468880"/>
            <a:ext cx="1828800" cy="10058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 UI displays status</a:t>
            </a:r>
            <a:endParaRPr lang="en-US" sz="1200" dirty="0"/>
          </a:p>
        </p:txBody>
      </p:sp>
      <p:sp>
        <p:nvSpPr>
          <p:cNvPr id="29" name="Shape 26"/>
          <p:cNvSpPr/>
          <p:nvPr/>
        </p:nvSpPr>
        <p:spPr>
          <a:xfrm>
            <a:off x="2011680" y="3657600"/>
            <a:ext cx="5120640" cy="365760"/>
          </a:xfrm>
          <a:prstGeom prst="roundRect">
            <a:avLst>
              <a:gd name="adj" fmla="val 20000"/>
            </a:avLst>
          </a:prstGeom>
          <a:solidFill>
            <a:srgbClr val="171936"/>
          </a:solidFill>
          <a:ln w="12700">
            <a:solidFill>
              <a:srgbClr val="171936"/>
            </a:solidFill>
            <a:prstDash val="solid"/>
          </a:ln>
        </p:spPr>
      </p:sp>
      <p:sp>
        <p:nvSpPr>
          <p:cNvPr id="30" name="Text 27"/>
          <p:cNvSpPr txBox="1"/>
          <p:nvPr/>
        </p:nvSpPr>
        <p:spPr>
          <a:xfrm>
            <a:off x="2011680" y="3657600"/>
            <a:ext cx="5120640" cy="36576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POST /student/{student_id}/report</a:t>
            </a:r>
            <a:endParaRPr lang="en-US" sz="1300" dirty="0"/>
          </a:p>
        </p:txBody>
      </p:sp>
      <p:sp>
        <p:nvSpPr>
          <p:cNvPr id="31" name="Text 28"/>
          <p:cNvSpPr txBox="1"/>
          <p:nvPr/>
        </p:nvSpPr>
        <p:spPr>
          <a:xfrm>
            <a:off x="365760" y="4114800"/>
            <a:ext cx="8412480" cy="274320"/>
          </a:xfrm>
          <a:prstGeom prst="rect">
            <a:avLst/>
          </a:prstGeom>
          <a:noFill/>
          <a:ln/>
        </p:spPr>
        <p:txBody>
          <a:bodyPr wrap="square" lIns="635" tIns="635" rIns="635" bIns="635" rtlCol="0" anchor="ctr"/>
          <a:lstStyle/>
          <a:p>
            <a:pPr algn="ctr" indent="0" marL="0">
              <a:buNone/>
            </a:pPr>
            <a:r>
              <a:rPr lang="en-US" sz="1100" dirty="0">
                <a:solidFill>
                  <a:srgbClr val="6E7490"/>
                </a:solidFill>
                <a:latin typeface="Calibri" pitchFamily="34" charset="0"/>
                <a:ea typeface="Calibri" pitchFamily="34" charset="-122"/>
                <a:cs typeface="Calibri" pitchFamily="34" charset="-120"/>
              </a:rPr>
              <a:t>Indigo = application   |   Navy = local PDF generation   |   Green = cloud upload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Evaluation &amp; Demonstration</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365760" y="914400"/>
            <a:ext cx="1234440" cy="822960"/>
          </a:xfrm>
          <a:prstGeom prst="roundRect">
            <a:avLst>
              <a:gd name="adj" fmla="val 8889"/>
            </a:avLst>
          </a:prstGeom>
          <a:solidFill>
            <a:srgbClr val="6554E8"/>
          </a:solidFill>
          <a:ln w="12700">
            <a:solidFill>
              <a:srgbClr val="6554E8"/>
            </a:solidFill>
            <a:prstDash val="solid"/>
          </a:ln>
        </p:spPr>
      </p:sp>
      <p:sp>
        <p:nvSpPr>
          <p:cNvPr id="8" name="Text 5"/>
          <p:cNvSpPr txBox="1"/>
          <p:nvPr/>
        </p:nvSpPr>
        <p:spPr>
          <a:xfrm>
            <a:off x="365760" y="914400"/>
            <a:ext cx="1234440" cy="8229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R² ≈ 0.5024</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GB Regressor</a:t>
            </a:r>
            <a:endParaRPr lang="en-US" sz="1050" dirty="0"/>
          </a:p>
        </p:txBody>
      </p:sp>
      <p:sp>
        <p:nvSpPr>
          <p:cNvPr id="9" name="Shape 6"/>
          <p:cNvSpPr/>
          <p:nvPr/>
        </p:nvSpPr>
        <p:spPr>
          <a:xfrm>
            <a:off x="1691640" y="914400"/>
            <a:ext cx="1234440" cy="822960"/>
          </a:xfrm>
          <a:prstGeom prst="roundRect">
            <a:avLst>
              <a:gd name="adj" fmla="val 8889"/>
            </a:avLst>
          </a:prstGeom>
          <a:solidFill>
            <a:srgbClr val="2B2F66"/>
          </a:solidFill>
          <a:ln w="12700">
            <a:solidFill>
              <a:srgbClr val="2B2F66"/>
            </a:solidFill>
            <a:prstDash val="solid"/>
          </a:ln>
        </p:spPr>
      </p:sp>
      <p:sp>
        <p:nvSpPr>
          <p:cNvPr id="10" name="Text 7"/>
          <p:cNvSpPr txBox="1"/>
          <p:nvPr/>
        </p:nvSpPr>
        <p:spPr>
          <a:xfrm>
            <a:off x="1691640" y="914400"/>
            <a:ext cx="1234440" cy="8229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MAE ≈ 8.1575</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target units</a:t>
            </a:r>
            <a:endParaRPr lang="en-US" sz="1050" dirty="0"/>
          </a:p>
        </p:txBody>
      </p:sp>
      <p:sp>
        <p:nvSpPr>
          <p:cNvPr id="11" name="Shape 8"/>
          <p:cNvSpPr/>
          <p:nvPr/>
        </p:nvSpPr>
        <p:spPr>
          <a:xfrm>
            <a:off x="3017520" y="914400"/>
            <a:ext cx="1234440" cy="822960"/>
          </a:xfrm>
          <a:prstGeom prst="roundRect">
            <a:avLst>
              <a:gd name="adj" fmla="val 8889"/>
            </a:avLst>
          </a:prstGeom>
          <a:solidFill>
            <a:srgbClr val="15966B"/>
          </a:solidFill>
          <a:ln w="12700">
            <a:solidFill>
              <a:srgbClr val="15966B"/>
            </a:solidFill>
            <a:prstDash val="solid"/>
          </a:ln>
        </p:spPr>
      </p:sp>
      <p:sp>
        <p:nvSpPr>
          <p:cNvPr id="12" name="Text 9"/>
          <p:cNvSpPr txBox="1"/>
          <p:nvPr/>
        </p:nvSpPr>
        <p:spPr>
          <a:xfrm>
            <a:off x="3017520" y="914400"/>
            <a:ext cx="1234440" cy="822960"/>
          </a:xfrm>
          <a:prstGeom prst="rect">
            <a:avLst/>
          </a:prstGeom>
          <a:no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21,444 × 30</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rows × columns</a:t>
            </a:r>
            <a:endParaRPr lang="en-US" sz="1050" dirty="0"/>
          </a:p>
        </p:txBody>
      </p:sp>
      <p:sp>
        <p:nvSpPr>
          <p:cNvPr id="13" name="Shape 10"/>
          <p:cNvSpPr/>
          <p:nvPr/>
        </p:nvSpPr>
        <p:spPr>
          <a:xfrm>
            <a:off x="365760" y="1920240"/>
            <a:ext cx="3931920" cy="1920240"/>
          </a:xfrm>
          <a:prstGeom prst="rect">
            <a:avLst/>
          </a:prstGeom>
          <a:solidFill>
            <a:srgbClr val="F0EDFF"/>
          </a:solidFill>
          <a:ln w="12700">
            <a:solidFill>
              <a:srgbClr val="F0EDFF"/>
            </a:solidFill>
            <a:prstDash val="solid"/>
          </a:ln>
        </p:spPr>
      </p:sp>
      <p:sp>
        <p:nvSpPr>
          <p:cNvPr id="14" name="Shape 11"/>
          <p:cNvSpPr/>
          <p:nvPr/>
        </p:nvSpPr>
        <p:spPr>
          <a:xfrm>
            <a:off x="365760" y="1920240"/>
            <a:ext cx="64008" cy="1920240"/>
          </a:xfrm>
          <a:prstGeom prst="rect">
            <a:avLst/>
          </a:prstGeom>
          <a:solidFill>
            <a:srgbClr val="6554E8"/>
          </a:solidFill>
          <a:ln w="12700">
            <a:solidFill>
              <a:srgbClr val="6554E8"/>
            </a:solidFill>
            <a:prstDash val="solid"/>
          </a:ln>
        </p:spPr>
      </p:sp>
      <p:sp>
        <p:nvSpPr>
          <p:cNvPr id="15" name="Text 12"/>
          <p:cNvSpPr txBox="1"/>
          <p:nvPr/>
        </p:nvSpPr>
        <p:spPr>
          <a:xfrm>
            <a:off x="502920" y="1965960"/>
            <a:ext cx="374904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How to read them</a:t>
            </a:r>
            <a:endParaRPr lang="en-US" sz="1300" dirty="0"/>
          </a:p>
        </p:txBody>
      </p:sp>
      <p:sp>
        <p:nvSpPr>
          <p:cNvPr id="16" name="Text 13"/>
          <p:cNvSpPr txBox="1"/>
          <p:nvPr/>
        </p:nvSpPr>
        <p:spPr>
          <a:xfrm>
            <a:off x="502920" y="2286000"/>
            <a:ext cx="3749040" cy="1508760"/>
          </a:xfrm>
          <a:prstGeom prst="rect">
            <a:avLst/>
          </a:prstGeom>
          <a:noFill/>
          <a:ln/>
        </p:spPr>
        <p:txBody>
          <a:bodyPr wrap="square" lIns="635" tIns="635" rIns="635" bIns="635" rtlCol="0" anchor="t"/>
          <a:lstStyle/>
          <a:p>
            <a:pPr indent="0" marL="0">
              <a:buNone/>
            </a:pPr>
            <a:r>
              <a:rPr lang="en-US" sz="1150" dirty="0">
                <a:solidFill>
                  <a:srgbClr val="171936"/>
                </a:solidFill>
                <a:latin typeface="Calibri" pitchFamily="34" charset="0"/>
                <a:ea typeface="Calibri" pitchFamily="34" charset="-122"/>
                <a:cs typeface="Calibri" pitchFamily="34" charset="-120"/>
              </a:rPr>
              <a:t>R²: share of variation explained (1 = perfect).</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MAE: average absolute error, in the target variable's units.</a:t>
            </a:r>
            <a:endParaRPr lang="en-US" sz="1150" dirty="0"/>
          </a:p>
          <a:p>
            <a:pPr indent="0" marL="0">
              <a:buNone/>
            </a:pPr>
            <a:r>
              <a:rPr lang="en-US" sz="1150" dirty="0">
                <a:solidFill>
                  <a:srgbClr val="171936"/>
                </a:solidFill>
                <a:latin typeface="Calibri" pitchFamily="34" charset="0"/>
                <a:ea typeface="Calibri" pitchFamily="34" charset="-122"/>
                <a:cs typeface="Calibri" pitchFamily="34" charset="-120"/>
              </a:rPr>
              <a:t>Figures to be verified against project files.</a:t>
            </a:r>
            <a:endParaRPr lang="en-US" sz="1150" dirty="0"/>
          </a:p>
        </p:txBody>
      </p:sp>
      <p:sp>
        <p:nvSpPr>
          <p:cNvPr id="17" name="Shape 14"/>
          <p:cNvSpPr/>
          <p:nvPr/>
        </p:nvSpPr>
        <p:spPr>
          <a:xfrm>
            <a:off x="4480560" y="914400"/>
            <a:ext cx="2103120" cy="1371600"/>
          </a:xfrm>
          <a:prstGeom prst="rect">
            <a:avLst/>
          </a:prstGeom>
          <a:solidFill>
            <a:srgbClr val="FFFFFF"/>
          </a:solidFill>
          <a:ln w="15875">
            <a:solidFill>
              <a:srgbClr val="6E7490"/>
            </a:solidFill>
            <a:prstDash val="dash"/>
          </a:ln>
        </p:spPr>
      </p:sp>
      <p:sp>
        <p:nvSpPr>
          <p:cNvPr id="18" name="Text 15"/>
          <p:cNvSpPr txBox="1"/>
          <p:nvPr/>
        </p:nvSpPr>
        <p:spPr>
          <a:xfrm>
            <a:off x="4480560" y="914400"/>
            <a:ext cx="2103120" cy="1371600"/>
          </a:xfrm>
          <a:prstGeom prst="rect">
            <a:avLst/>
          </a:prstGeom>
          <a:noFill/>
          <a:ln/>
        </p:spPr>
        <p:txBody>
          <a:bodyPr wrap="square" lIns="635" tIns="635" rIns="635" bIns="635" rtlCol="0" anchor="ctr"/>
          <a:lstStyle/>
          <a:p>
            <a:pPr algn="ctr" indent="0" marL="0">
              <a:buNone/>
            </a:pPr>
            <a:r>
              <a:rPr lang="en-US" sz="1100" dirty="0">
                <a:solidFill>
                  <a:srgbClr val="6E7490"/>
                </a:solidFill>
                <a:latin typeface="Calibri" pitchFamily="34" charset="0"/>
                <a:ea typeface="Calibri" pitchFamily="34" charset="-122"/>
                <a:cs typeface="Calibri" pitchFamily="34" charset="-120"/>
              </a:rPr>
              <a:t>[Screenshot placeholder]</a:t>
            </a:r>
            <a:endParaRPr lang="en-US" sz="1100" dirty="0"/>
          </a:p>
          <a:p>
            <a:pPr algn="ctr" indent="0" marL="0">
              <a:buNone/>
            </a:pPr>
            <a:r>
              <a:rPr lang="en-US" sz="1100" dirty="0">
                <a:solidFill>
                  <a:srgbClr val="6E7490"/>
                </a:solidFill>
                <a:latin typeface="Calibri" pitchFamily="34" charset="0"/>
                <a:ea typeface="Calibri" pitchFamily="34" charset="-122"/>
                <a:cs typeface="Calibri" pitchFamily="34" charset="-120"/>
              </a:rPr>
              <a:t>Dashboard</a:t>
            </a:r>
            <a:endParaRPr lang="en-US" sz="1100" dirty="0"/>
          </a:p>
        </p:txBody>
      </p:sp>
      <p:sp>
        <p:nvSpPr>
          <p:cNvPr id="19" name="Shape 16"/>
          <p:cNvSpPr/>
          <p:nvPr/>
        </p:nvSpPr>
        <p:spPr>
          <a:xfrm>
            <a:off x="6675120" y="914400"/>
            <a:ext cx="2103120" cy="1371600"/>
          </a:xfrm>
          <a:prstGeom prst="rect">
            <a:avLst/>
          </a:prstGeom>
          <a:solidFill>
            <a:srgbClr val="FFFFFF"/>
          </a:solidFill>
          <a:ln w="15875">
            <a:solidFill>
              <a:srgbClr val="6E7490"/>
            </a:solidFill>
            <a:prstDash val="dash"/>
          </a:ln>
        </p:spPr>
      </p:sp>
      <p:sp>
        <p:nvSpPr>
          <p:cNvPr id="20" name="Text 17"/>
          <p:cNvSpPr txBox="1"/>
          <p:nvPr/>
        </p:nvSpPr>
        <p:spPr>
          <a:xfrm>
            <a:off x="6675120" y="914400"/>
            <a:ext cx="2103120" cy="1371600"/>
          </a:xfrm>
          <a:prstGeom prst="rect">
            <a:avLst/>
          </a:prstGeom>
          <a:noFill/>
          <a:ln/>
        </p:spPr>
        <p:txBody>
          <a:bodyPr wrap="square" lIns="635" tIns="635" rIns="635" bIns="635" rtlCol="0" anchor="ctr"/>
          <a:lstStyle/>
          <a:p>
            <a:pPr algn="ctr" indent="0" marL="0">
              <a:buNone/>
            </a:pPr>
            <a:r>
              <a:rPr lang="en-US" sz="1100" dirty="0">
                <a:solidFill>
                  <a:srgbClr val="6E7490"/>
                </a:solidFill>
                <a:latin typeface="Calibri" pitchFamily="34" charset="0"/>
                <a:ea typeface="Calibri" pitchFamily="34" charset="-122"/>
                <a:cs typeface="Calibri" pitchFamily="34" charset="-120"/>
              </a:rPr>
              <a:t>[Screenshot placeholder]</a:t>
            </a:r>
            <a:endParaRPr lang="en-US" sz="1100" dirty="0"/>
          </a:p>
          <a:p>
            <a:pPr algn="ctr" indent="0" marL="0">
              <a:buNone/>
            </a:pPr>
            <a:r>
              <a:rPr lang="en-US" sz="1100" dirty="0">
                <a:solidFill>
                  <a:srgbClr val="6E7490"/>
                </a:solidFill>
                <a:latin typeface="Calibri" pitchFamily="34" charset="0"/>
                <a:ea typeface="Calibri" pitchFamily="34" charset="-122"/>
                <a:cs typeface="Calibri" pitchFamily="34" charset="-120"/>
              </a:rPr>
              <a:t>AI chatbot response</a:t>
            </a:r>
            <a:endParaRPr lang="en-US" sz="1100" dirty="0"/>
          </a:p>
        </p:txBody>
      </p:sp>
      <p:sp>
        <p:nvSpPr>
          <p:cNvPr id="21" name="Shape 18"/>
          <p:cNvSpPr/>
          <p:nvPr/>
        </p:nvSpPr>
        <p:spPr>
          <a:xfrm>
            <a:off x="4480560" y="2423160"/>
            <a:ext cx="2103120" cy="1371600"/>
          </a:xfrm>
          <a:prstGeom prst="rect">
            <a:avLst/>
          </a:prstGeom>
          <a:solidFill>
            <a:srgbClr val="FFFFFF"/>
          </a:solidFill>
          <a:ln w="15875">
            <a:solidFill>
              <a:srgbClr val="6E7490"/>
            </a:solidFill>
            <a:prstDash val="dash"/>
          </a:ln>
        </p:spPr>
      </p:sp>
      <p:sp>
        <p:nvSpPr>
          <p:cNvPr id="22" name="Text 19"/>
          <p:cNvSpPr txBox="1"/>
          <p:nvPr/>
        </p:nvSpPr>
        <p:spPr>
          <a:xfrm>
            <a:off x="4480560" y="2423160"/>
            <a:ext cx="2103120" cy="1371600"/>
          </a:xfrm>
          <a:prstGeom prst="rect">
            <a:avLst/>
          </a:prstGeom>
          <a:noFill/>
          <a:ln/>
        </p:spPr>
        <p:txBody>
          <a:bodyPr wrap="square" lIns="635" tIns="635" rIns="635" bIns="635" rtlCol="0" anchor="ctr"/>
          <a:lstStyle/>
          <a:p>
            <a:pPr algn="ctr" indent="0" marL="0">
              <a:buNone/>
            </a:pPr>
            <a:r>
              <a:rPr lang="en-US" sz="1100" dirty="0">
                <a:solidFill>
                  <a:srgbClr val="6E7490"/>
                </a:solidFill>
                <a:latin typeface="Calibri" pitchFamily="34" charset="0"/>
                <a:ea typeface="Calibri" pitchFamily="34" charset="-122"/>
                <a:cs typeface="Calibri" pitchFamily="34" charset="-120"/>
              </a:rPr>
              <a:t>[Screenshot placeholder]</a:t>
            </a:r>
            <a:endParaRPr lang="en-US" sz="1100" dirty="0"/>
          </a:p>
          <a:p>
            <a:pPr algn="ctr" indent="0" marL="0">
              <a:buNone/>
            </a:pPr>
            <a:r>
              <a:rPr lang="en-US" sz="1100" dirty="0">
                <a:solidFill>
                  <a:srgbClr val="6E7490"/>
                </a:solidFill>
                <a:latin typeface="Calibri" pitchFamily="34" charset="0"/>
                <a:ea typeface="Calibri" pitchFamily="34" charset="-122"/>
                <a:cs typeface="Calibri" pitchFamily="34" charset="-120"/>
              </a:rPr>
              <a:t>Report success message</a:t>
            </a:r>
            <a:endParaRPr lang="en-US" sz="1100" dirty="0"/>
          </a:p>
        </p:txBody>
      </p:sp>
      <p:sp>
        <p:nvSpPr>
          <p:cNvPr id="23" name="Shape 20"/>
          <p:cNvSpPr/>
          <p:nvPr/>
        </p:nvSpPr>
        <p:spPr>
          <a:xfrm>
            <a:off x="6675120" y="2423160"/>
            <a:ext cx="2103120" cy="1371600"/>
          </a:xfrm>
          <a:prstGeom prst="rect">
            <a:avLst/>
          </a:prstGeom>
          <a:solidFill>
            <a:srgbClr val="FFFFFF"/>
          </a:solidFill>
          <a:ln w="15875">
            <a:solidFill>
              <a:srgbClr val="6E7490"/>
            </a:solidFill>
            <a:prstDash val="dash"/>
          </a:ln>
        </p:spPr>
      </p:sp>
      <p:sp>
        <p:nvSpPr>
          <p:cNvPr id="24" name="Text 21"/>
          <p:cNvSpPr txBox="1"/>
          <p:nvPr/>
        </p:nvSpPr>
        <p:spPr>
          <a:xfrm>
            <a:off x="6675120" y="2423160"/>
            <a:ext cx="2103120" cy="1371600"/>
          </a:xfrm>
          <a:prstGeom prst="rect">
            <a:avLst/>
          </a:prstGeom>
          <a:noFill/>
          <a:ln/>
        </p:spPr>
        <p:txBody>
          <a:bodyPr wrap="square" lIns="635" tIns="635" rIns="635" bIns="635" rtlCol="0" anchor="ctr"/>
          <a:lstStyle/>
          <a:p>
            <a:pPr algn="ctr" indent="0" marL="0">
              <a:buNone/>
            </a:pPr>
            <a:r>
              <a:rPr lang="en-US" sz="1100" dirty="0">
                <a:solidFill>
                  <a:srgbClr val="6E7490"/>
                </a:solidFill>
                <a:latin typeface="Calibri" pitchFamily="34" charset="0"/>
                <a:ea typeface="Calibri" pitchFamily="34" charset="-122"/>
                <a:cs typeface="Calibri" pitchFamily="34" charset="-120"/>
              </a:rPr>
              <a:t>[Screenshot placeholder]</a:t>
            </a:r>
            <a:endParaRPr lang="en-US" sz="1100" dirty="0"/>
          </a:p>
          <a:p>
            <a:pPr algn="ctr" indent="0" marL="0">
              <a:buNone/>
            </a:pPr>
            <a:r>
              <a:rPr lang="en-US" sz="1100" dirty="0">
                <a:solidFill>
                  <a:srgbClr val="6E7490"/>
                </a:solidFill>
                <a:latin typeface="Calibri" pitchFamily="34" charset="0"/>
                <a:ea typeface="Calibri" pitchFamily="34" charset="-122"/>
                <a:cs typeface="Calibri" pitchFamily="34" charset="-120"/>
              </a:rPr>
              <a:t>S3 bucket objects</a:t>
            </a:r>
            <a:endParaRPr lang="en-US" sz="1100" dirty="0"/>
          </a:p>
        </p:txBody>
      </p:sp>
      <p:sp>
        <p:nvSpPr>
          <p:cNvPr id="25" name="Text 22"/>
          <p:cNvSpPr txBox="1"/>
          <p:nvPr/>
        </p:nvSpPr>
        <p:spPr>
          <a:xfrm>
            <a:off x="365760" y="4023360"/>
            <a:ext cx="8412480" cy="320040"/>
          </a:xfrm>
          <a:prstGeom prst="rect">
            <a:avLst/>
          </a:prstGeom>
          <a:noFill/>
          <a:ln/>
        </p:spPr>
        <p:txBody>
          <a:bodyPr wrap="square" lIns="635" tIns="635" rIns="635" bIns="635" rtlCol="0" anchor="ctr"/>
          <a:lstStyle/>
          <a:p>
            <a:pPr algn="ctr" indent="0" marL="0">
              <a:buNone/>
            </a:pPr>
            <a:r>
              <a:rPr lang="en-US" sz="1150" i="1" dirty="0">
                <a:solidFill>
                  <a:srgbClr val="6E7490"/>
                </a:solidFill>
                <a:latin typeface="Calibri" pitchFamily="34" charset="0"/>
                <a:ea typeface="Calibri" pitchFamily="34" charset="-122"/>
                <a:cs typeface="Calibri" pitchFamily="34" charset="-120"/>
              </a:rPr>
              <a:t>Replace placeholders with real screenshots. No fabricated evidence is shown.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71936"/>
          </a:solidFill>
          <a:ln w="12700">
            <a:solidFill>
              <a:srgbClr val="171936"/>
            </a:solidFill>
            <a:prstDash val="solid"/>
          </a:ln>
        </p:spPr>
      </p:sp>
      <p:sp>
        <p:nvSpPr>
          <p:cNvPr id="3" name="Shape 1"/>
          <p:cNvSpPr/>
          <p:nvPr/>
        </p:nvSpPr>
        <p:spPr>
          <a:xfrm>
            <a:off x="0" y="731520"/>
            <a:ext cx="9144000" cy="45720"/>
          </a:xfrm>
          <a:prstGeom prst="rect">
            <a:avLst/>
          </a:prstGeom>
          <a:solidFill>
            <a:srgbClr val="6554E8"/>
          </a:solidFill>
          <a:ln w="12700">
            <a:solidFill>
              <a:srgbClr val="6554E8"/>
            </a:solidFill>
            <a:prstDash val="solid"/>
          </a:ln>
        </p:spPr>
      </p:sp>
      <p:sp>
        <p:nvSpPr>
          <p:cNvPr id="4" name="Text 2"/>
          <p:cNvSpPr txBox="1"/>
          <p:nvPr/>
        </p:nvSpPr>
        <p:spPr>
          <a:xfrm>
            <a:off x="365760" y="91440"/>
            <a:ext cx="8412480" cy="5486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Limitations, Future Scope &amp; Conclusion</a:t>
            </a:r>
            <a:endParaRPr lang="en-US" sz="2200" dirty="0"/>
          </a:p>
        </p:txBody>
      </p:sp>
      <p:sp>
        <p:nvSpPr>
          <p:cNvPr id="5" name="Text 3"/>
          <p:cNvSpPr txBox="1"/>
          <p:nvPr/>
        </p:nvSpPr>
        <p:spPr>
          <a:xfrm>
            <a:off x="8412480" y="4846320"/>
            <a:ext cx="457200" cy="228600"/>
          </a:xfrm>
          <a:prstGeom prst="rect">
            <a:avLst/>
          </a:prstGeom>
          <a:noFill/>
          <a:ln/>
        </p:spPr>
        <p:txBody>
          <a:bodyPr wrap="square" lIns="635" tIns="635" rIns="635" bIns="635" rtlCol="0" anchor="ctr"/>
          <a:lstStyle/>
          <a:p>
            <a:pPr algn="r" indent="0" marL="0">
              <a:buNone/>
            </a:pPr>
            <a:r>
              <a:rPr lang="en-US" sz="1000" dirty="0">
                <a:solidFill>
                  <a:srgbClr val="6E7490"/>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365760" y="914400"/>
            <a:ext cx="2743200" cy="2423160"/>
          </a:xfrm>
          <a:prstGeom prst="rect">
            <a:avLst/>
          </a:prstGeom>
          <a:solidFill>
            <a:srgbClr val="F0EDFF"/>
          </a:solidFill>
          <a:ln w="12700">
            <a:solidFill>
              <a:srgbClr val="F0EDFF"/>
            </a:solidFill>
            <a:prstDash val="solid"/>
          </a:ln>
        </p:spPr>
      </p:sp>
      <p:sp>
        <p:nvSpPr>
          <p:cNvPr id="8" name="Shape 5"/>
          <p:cNvSpPr/>
          <p:nvPr/>
        </p:nvSpPr>
        <p:spPr>
          <a:xfrm>
            <a:off x="365760" y="914400"/>
            <a:ext cx="64008" cy="2423160"/>
          </a:xfrm>
          <a:prstGeom prst="rect">
            <a:avLst/>
          </a:prstGeom>
          <a:solidFill>
            <a:srgbClr val="6554E8"/>
          </a:solidFill>
          <a:ln w="12700">
            <a:solidFill>
              <a:srgbClr val="6554E8"/>
            </a:solidFill>
            <a:prstDash val="solid"/>
          </a:ln>
        </p:spPr>
      </p:sp>
      <p:sp>
        <p:nvSpPr>
          <p:cNvPr id="9" name="Text 6"/>
          <p:cNvSpPr txBox="1"/>
          <p:nvPr/>
        </p:nvSpPr>
        <p:spPr>
          <a:xfrm>
            <a:off x="502920" y="960120"/>
            <a:ext cx="2560320" cy="292608"/>
          </a:xfrm>
          <a:prstGeom prst="rect">
            <a:avLst/>
          </a:prstGeom>
          <a:noFill/>
          <a:ln/>
        </p:spPr>
        <p:txBody>
          <a:bodyPr wrap="square" lIns="635" tIns="635" rIns="635" bIns="635" rtlCol="0" anchor="ctr"/>
          <a:lstStyle/>
          <a:p>
            <a:pPr indent="0" marL="0">
              <a:buNone/>
            </a:pPr>
            <a:r>
              <a:rPr lang="en-US" sz="1300" b="1" dirty="0">
                <a:solidFill>
                  <a:srgbClr val="6554E8"/>
                </a:solidFill>
                <a:latin typeface="Calibri" pitchFamily="34" charset="0"/>
                <a:ea typeface="Calibri" pitchFamily="34" charset="-122"/>
                <a:cs typeface="Calibri" pitchFamily="34" charset="-120"/>
              </a:rPr>
              <a:t>Limitations &amp; Security</a:t>
            </a:r>
            <a:endParaRPr lang="en-US" sz="1300" dirty="0"/>
          </a:p>
        </p:txBody>
      </p:sp>
      <p:sp>
        <p:nvSpPr>
          <p:cNvPr id="10" name="Text 7"/>
          <p:cNvSpPr txBox="1"/>
          <p:nvPr/>
        </p:nvSpPr>
        <p:spPr>
          <a:xfrm>
            <a:off x="502920" y="1280160"/>
            <a:ext cx="2560320" cy="2011680"/>
          </a:xfrm>
          <a:prstGeom prst="rect">
            <a:avLst/>
          </a:prstGeom>
          <a:noFill/>
          <a:ln/>
        </p:spPr>
        <p:txBody>
          <a:bodyPr wrap="square" lIns="635" tIns="635" rIns="635" bIns="635" rtlCol="0" anchor="t"/>
          <a:lstStyle/>
          <a:p>
            <a:pPr indent="0" marL="0">
              <a:buNone/>
            </a:pPr>
            <a:r>
              <a:rPr lang="en-US" sz="1050" dirty="0">
                <a:solidFill>
                  <a:srgbClr val="171936"/>
                </a:solidFill>
                <a:latin typeface="Calibri" pitchFamily="34" charset="0"/>
                <a:ea typeface="Calibri" pitchFamily="34" charset="-122"/>
                <a:cs typeface="Calibri" pitchFamily="34" charset="-120"/>
              </a:rPr>
              <a:t>• Protect AWS credentials; private bucket</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Student-data privacy</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Local LLM: hardware, latency</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Prediction uncertainty; dataset limits</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Needs evaluation before real use</a:t>
            </a:r>
            <a:endParaRPr lang="en-US" sz="1050" dirty="0"/>
          </a:p>
        </p:txBody>
      </p:sp>
      <p:sp>
        <p:nvSpPr>
          <p:cNvPr id="11" name="Shape 8"/>
          <p:cNvSpPr/>
          <p:nvPr/>
        </p:nvSpPr>
        <p:spPr>
          <a:xfrm>
            <a:off x="3200400" y="914400"/>
            <a:ext cx="2743200" cy="2423160"/>
          </a:xfrm>
          <a:prstGeom prst="rect">
            <a:avLst/>
          </a:prstGeom>
          <a:solidFill>
            <a:srgbClr val="F0EDFF"/>
          </a:solidFill>
          <a:ln w="12700">
            <a:solidFill>
              <a:srgbClr val="F0EDFF"/>
            </a:solidFill>
            <a:prstDash val="solid"/>
          </a:ln>
        </p:spPr>
      </p:sp>
      <p:sp>
        <p:nvSpPr>
          <p:cNvPr id="12" name="Shape 9"/>
          <p:cNvSpPr/>
          <p:nvPr/>
        </p:nvSpPr>
        <p:spPr>
          <a:xfrm>
            <a:off x="3200400" y="914400"/>
            <a:ext cx="64008" cy="2423160"/>
          </a:xfrm>
          <a:prstGeom prst="rect">
            <a:avLst/>
          </a:prstGeom>
          <a:solidFill>
            <a:srgbClr val="6E7490"/>
          </a:solidFill>
          <a:ln w="12700">
            <a:solidFill>
              <a:srgbClr val="6E7490"/>
            </a:solidFill>
            <a:prstDash val="solid"/>
          </a:ln>
        </p:spPr>
      </p:sp>
      <p:sp>
        <p:nvSpPr>
          <p:cNvPr id="13" name="Text 10"/>
          <p:cNvSpPr txBox="1"/>
          <p:nvPr/>
        </p:nvSpPr>
        <p:spPr>
          <a:xfrm>
            <a:off x="3337560" y="960120"/>
            <a:ext cx="2560320" cy="292608"/>
          </a:xfrm>
          <a:prstGeom prst="rect">
            <a:avLst/>
          </a:prstGeom>
          <a:noFill/>
          <a:ln/>
        </p:spPr>
        <p:txBody>
          <a:bodyPr wrap="square" lIns="635" tIns="635" rIns="635" bIns="635" rtlCol="0" anchor="ctr"/>
          <a:lstStyle/>
          <a:p>
            <a:pPr indent="0" marL="0">
              <a:buNone/>
            </a:pPr>
            <a:r>
              <a:rPr lang="en-US" sz="1300" b="1" dirty="0">
                <a:solidFill>
                  <a:srgbClr val="6E7490"/>
                </a:solidFill>
                <a:latin typeface="Calibri" pitchFamily="34" charset="0"/>
                <a:ea typeface="Calibri" pitchFamily="34" charset="-122"/>
                <a:cs typeface="Calibri" pitchFamily="34" charset="-120"/>
              </a:rPr>
              <a:t>Future Scope (proposed)</a:t>
            </a:r>
            <a:endParaRPr lang="en-US" sz="1300" dirty="0"/>
          </a:p>
        </p:txBody>
      </p:sp>
      <p:sp>
        <p:nvSpPr>
          <p:cNvPr id="14" name="Text 11"/>
          <p:cNvSpPr txBox="1"/>
          <p:nvPr/>
        </p:nvSpPr>
        <p:spPr>
          <a:xfrm>
            <a:off x="3337560" y="1280160"/>
            <a:ext cx="2560320" cy="2011680"/>
          </a:xfrm>
          <a:prstGeom prst="rect">
            <a:avLst/>
          </a:prstGeom>
          <a:noFill/>
          <a:ln/>
        </p:spPr>
        <p:txBody>
          <a:bodyPr wrap="square" lIns="635" tIns="635" rIns="635" bIns="635" rtlCol="0" anchor="t"/>
          <a:lstStyle/>
          <a:p>
            <a:pPr indent="0" marL="0">
              <a:buNone/>
            </a:pPr>
            <a:r>
              <a:rPr lang="en-US" sz="1050" dirty="0">
                <a:solidFill>
                  <a:srgbClr val="171936"/>
                </a:solidFill>
                <a:latin typeface="Calibri" pitchFamily="34" charset="0"/>
                <a:ea typeface="Calibri" pitchFamily="34" charset="-122"/>
                <a:cs typeface="Calibri" pitchFamily="34" charset="-120"/>
              </a:rPr>
              <a:t>• Cloud hosting of app and AI services</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Authentication, role-based access</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Report history and downloads</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Wider model evaluation</a:t>
            </a:r>
            <a:endParaRPr lang="en-US" sz="1050" dirty="0"/>
          </a:p>
          <a:p>
            <a:pPr indent="0" marL="0">
              <a:buNone/>
            </a:pPr>
            <a:r>
              <a:rPr lang="en-US" sz="1050" dirty="0">
                <a:solidFill>
                  <a:srgbClr val="171936"/>
                </a:solidFill>
                <a:latin typeface="Calibri" pitchFamily="34" charset="0"/>
                <a:ea typeface="Calibri" pitchFamily="34" charset="-122"/>
                <a:cs typeface="Calibri" pitchFamily="34" charset="-120"/>
              </a:rPr>
              <a:t>• Monitoring, logging, cost control</a:t>
            </a:r>
            <a:endParaRPr lang="en-US" sz="1050" dirty="0"/>
          </a:p>
        </p:txBody>
      </p:sp>
      <p:sp>
        <p:nvSpPr>
          <p:cNvPr id="15" name="Shape 12"/>
          <p:cNvSpPr/>
          <p:nvPr/>
        </p:nvSpPr>
        <p:spPr>
          <a:xfrm>
            <a:off x="6035040" y="914400"/>
            <a:ext cx="2743200" cy="2423160"/>
          </a:xfrm>
          <a:prstGeom prst="rect">
            <a:avLst/>
          </a:prstGeom>
          <a:solidFill>
            <a:srgbClr val="F0EDFF"/>
          </a:solidFill>
          <a:ln w="12700">
            <a:solidFill>
              <a:srgbClr val="F0EDFF"/>
            </a:solidFill>
            <a:prstDash val="solid"/>
          </a:ln>
        </p:spPr>
      </p:sp>
      <p:sp>
        <p:nvSpPr>
          <p:cNvPr id="16" name="Shape 13"/>
          <p:cNvSpPr/>
          <p:nvPr/>
        </p:nvSpPr>
        <p:spPr>
          <a:xfrm>
            <a:off x="6035040" y="914400"/>
            <a:ext cx="64008" cy="2423160"/>
          </a:xfrm>
          <a:prstGeom prst="rect">
            <a:avLst/>
          </a:prstGeom>
          <a:solidFill>
            <a:srgbClr val="15966B"/>
          </a:solidFill>
          <a:ln w="12700">
            <a:solidFill>
              <a:srgbClr val="15966B"/>
            </a:solidFill>
            <a:prstDash val="solid"/>
          </a:ln>
        </p:spPr>
      </p:sp>
      <p:sp>
        <p:nvSpPr>
          <p:cNvPr id="17" name="Text 14"/>
          <p:cNvSpPr txBox="1"/>
          <p:nvPr/>
        </p:nvSpPr>
        <p:spPr>
          <a:xfrm>
            <a:off x="6172200" y="960120"/>
            <a:ext cx="2560320" cy="292608"/>
          </a:xfrm>
          <a:prstGeom prst="rect">
            <a:avLst/>
          </a:prstGeom>
          <a:noFill/>
          <a:ln/>
        </p:spPr>
        <p:txBody>
          <a:bodyPr wrap="square" lIns="635" tIns="635" rIns="635" bIns="635" rtlCol="0" anchor="ctr"/>
          <a:lstStyle/>
          <a:p>
            <a:pPr indent="0" marL="0">
              <a:buNone/>
            </a:pPr>
            <a:r>
              <a:rPr lang="en-US" sz="1300" b="1" dirty="0">
                <a:solidFill>
                  <a:srgbClr val="15966B"/>
                </a:solidFill>
                <a:latin typeface="Calibri" pitchFamily="34" charset="0"/>
                <a:ea typeface="Calibri" pitchFamily="34" charset="-122"/>
                <a:cs typeface="Calibri" pitchFamily="34" charset="-120"/>
              </a:rPr>
              <a:t>Conclusion</a:t>
            </a:r>
            <a:endParaRPr lang="en-US" sz="1300" dirty="0"/>
          </a:p>
        </p:txBody>
      </p:sp>
      <p:sp>
        <p:nvSpPr>
          <p:cNvPr id="18" name="Text 15"/>
          <p:cNvSpPr txBox="1"/>
          <p:nvPr/>
        </p:nvSpPr>
        <p:spPr>
          <a:xfrm>
            <a:off x="6172200" y="1280160"/>
            <a:ext cx="2560320" cy="2011680"/>
          </a:xfrm>
          <a:prstGeom prst="rect">
            <a:avLst/>
          </a:prstGeom>
          <a:noFill/>
          <a:ln/>
        </p:spPr>
        <p:txBody>
          <a:bodyPr wrap="square" lIns="635" tIns="635" rIns="635" bIns="635" rtlCol="0" anchor="t"/>
          <a:lstStyle/>
          <a:p>
            <a:pPr indent="0" marL="0">
              <a:buNone/>
            </a:pPr>
            <a:r>
              <a:rPr lang="en-US" sz="1050" dirty="0">
                <a:solidFill>
                  <a:srgbClr val="171936"/>
                </a:solidFill>
                <a:latin typeface="Calibri" pitchFamily="34" charset="0"/>
                <a:ea typeface="Calibri" pitchFamily="34" charset="-122"/>
                <a:cs typeface="Calibri" pitchFamily="34" charset="-120"/>
              </a:rPr>
              <a:t>EduAssist AI combines ML analysis, NLP + RAG + LLM assistance, PDF reports and Amazon S3 storage in a practical educational application.</a:t>
            </a:r>
            <a:endParaRPr lang="en-US" sz="1050" dirty="0"/>
          </a:p>
        </p:txBody>
      </p:sp>
      <p:sp>
        <p:nvSpPr>
          <p:cNvPr id="19" name="Text 16"/>
          <p:cNvSpPr txBox="1"/>
          <p:nvPr/>
        </p:nvSpPr>
        <p:spPr>
          <a:xfrm>
            <a:off x="365760" y="3429000"/>
            <a:ext cx="8412480" cy="594360"/>
          </a:xfrm>
          <a:prstGeom prst="rect">
            <a:avLst/>
          </a:prstGeom>
          <a:noFill/>
          <a:ln/>
        </p:spPr>
        <p:txBody>
          <a:bodyPr wrap="square" lIns="635" tIns="635" rIns="635" bIns="635" rtlCol="0" anchor="t"/>
          <a:lstStyle/>
          <a:p>
            <a:pPr indent="0" marL="0">
              <a:buNone/>
            </a:pPr>
            <a:r>
              <a:rPr lang="en-US" sz="950" dirty="0">
                <a:solidFill>
                  <a:srgbClr val="6E7490"/>
                </a:solidFill>
                <a:latin typeface="Calibri" pitchFamily="34" charset="0"/>
                <a:ea typeface="Calibri" pitchFamily="34" charset="-122"/>
                <a:cs typeface="Calibri" pitchFamily="34" charset="-120"/>
              </a:rPr>
              <a:t>References: OULAD analyse.kmi.open.ac.uk/open-dataset | scikit-learn.org | fastapi.tiangolo.com | docs.aws.amazon.com/s3 | boto3.amazonaws.com/v1/documentation/api/latest | ollama.com | github.com/facebookresearch/faiss | sbert.net</a:t>
            </a:r>
            <a:endParaRPr lang="en-US" sz="950" dirty="0"/>
          </a:p>
        </p:txBody>
      </p:sp>
      <p:sp>
        <p:nvSpPr>
          <p:cNvPr id="20" name="Shape 17"/>
          <p:cNvSpPr/>
          <p:nvPr/>
        </p:nvSpPr>
        <p:spPr>
          <a:xfrm>
            <a:off x="365760" y="4114800"/>
            <a:ext cx="8412480" cy="731520"/>
          </a:xfrm>
          <a:prstGeom prst="roundRect">
            <a:avLst>
              <a:gd name="adj" fmla="val 10000"/>
            </a:avLst>
          </a:prstGeom>
          <a:solidFill>
            <a:srgbClr val="171936"/>
          </a:solidFill>
          <a:ln w="12700">
            <a:solidFill>
              <a:srgbClr val="171936"/>
            </a:solidFill>
            <a:prstDash val="solid"/>
          </a:ln>
        </p:spPr>
      </p:sp>
      <p:sp>
        <p:nvSpPr>
          <p:cNvPr id="21" name="Text 18"/>
          <p:cNvSpPr txBox="1"/>
          <p:nvPr/>
        </p:nvSpPr>
        <p:spPr>
          <a:xfrm>
            <a:off x="365760" y="4114800"/>
            <a:ext cx="8412480" cy="73152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Thank You — Questions &amp; Discussion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EduAssist AI — Smarter Insights. Better Learning. Connected Cloud.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EduAssist AI – Deep Learning &amp; Cloud Computing</dc:title>
  <dc:subject>PptxGenJS Presentation</dc:subject>
  <dc:creator>PptxGenJS</dc:creator>
  <cp:lastModifiedBy>PptxGenJS</cp:lastModifiedBy>
  <cp:revision>1</cp:revision>
  <dcterms:created xsi:type="dcterms:W3CDTF">2026-10-21T08:11:35Z</dcterms:created>
  <dcterms:modified xsi:type="dcterms:W3CDTF">2026-10-21T08:11:35Z</dcterms:modified>
</cp:coreProperties>
</file>